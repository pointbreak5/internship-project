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67" r:id="rId5"/>
    <p:sldId id="259" r:id="rId6"/>
    <p:sldId id="260" r:id="rId7"/>
    <p:sldId id="261" r:id="rId8"/>
    <p:sldId id="262" r:id="rId9"/>
    <p:sldId id="263" r:id="rId10"/>
    <p:sldId id="264" r:id="rId11"/>
    <p:sldId id="265" r:id="rId12"/>
    <p:sldId id="266" r:id="rId13"/>
  </p:sldIdLst>
  <p:sldSz cx="12192000" cy="6858000"/>
  <p:notesSz cx="6858000" cy="12192000"/>
  <p:embeddedFontLst>
    <p:embeddedFont>
      <p:font typeface="Nunito Light" pitchFamily="2" charset="0"/>
      <p:regular r:id="rId15"/>
      <p:italic r:id="rId16"/>
    </p:embeddedFont>
    <p:embeddedFont>
      <p:font typeface="Nunito SemiBold" pitchFamily="2" charset="0"/>
      <p:regular r:id="rId17"/>
      <p:bold r:id="rId18"/>
      <p:boldItalic r:id="rId19"/>
    </p:embeddedFont>
    <p:embeddedFont>
      <p:font typeface="PT Sans" panose="020B0503020203020204" pitchFamily="34" charset="0"/>
      <p:regular r:id="rId20"/>
      <p:bold r:id="rId21"/>
      <p:italic r:id="rId22"/>
      <p:boldItalic r:id="rId23"/>
    </p:embeddedFont>
    <p:embeddedFont>
      <p:font typeface="PT Sans Bold" panose="020B0703020203020204" charset="0"/>
      <p:regular r:id="rId24"/>
    </p:embeddedFont>
    <p:embeddedFont>
      <p:font typeface="Rockwell Nova Extra Bold" panose="02060903020205020403" pitchFamily="18" charset="0"/>
      <p:bold r:id="rId25"/>
      <p:boldItalic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2E"/>
    <a:srgbClr val="0C11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4055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D6B07-C914-AB0D-4FFD-70DB5210B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0862A5-7BB3-05A0-CD74-0246B57743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A09A9-49FF-F3F4-34AC-7DD0AE241C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AD80A5-CCEB-5122-3C96-C524CC12E96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0869751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2E">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9.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8.svg"/><Relationship Id="rId5" Type="http://schemas.openxmlformats.org/officeDocument/2006/relationships/image" Target="../media/image27.svg"/><Relationship Id="rId4" Type="http://schemas.openxmlformats.org/officeDocument/2006/relationships/image" Target="../media/image26.svg"/></Relationships>
</file>

<file path=ppt/slides/_rels/slide10.xml.rels><?xml version="1.0" encoding="UTF-8" standalone="yes"?>
<Relationships xmlns="http://schemas.openxmlformats.org/package/2006/relationships"><Relationship Id="rId3" Type="http://schemas.openxmlformats.org/officeDocument/2006/relationships/image" Target="../media/image31.svg"/><Relationship Id="rId7" Type="http://schemas.openxmlformats.org/officeDocument/2006/relationships/image" Target="../media/image35.sv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98086" y="483195"/>
            <a:ext cx="10795524" cy="441127"/>
          </a:xfrm>
          <a:prstGeom prst="rect">
            <a:avLst/>
          </a:prstGeom>
          <a:noFill/>
          <a:ln/>
        </p:spPr>
        <p:txBody>
          <a:bodyPr wrap="none" lIns="0" tIns="0" rIns="0" bIns="0" rtlCol="0" anchor="t"/>
          <a:lstStyle/>
          <a:p>
            <a:pPr marL="0" indent="0" algn="ctr">
              <a:lnSpc>
                <a:spcPct val="104000"/>
              </a:lnSpc>
              <a:buNone/>
            </a:pPr>
            <a:r>
              <a:rPr lang="en-US" sz="2750" dirty="0">
                <a:solidFill>
                  <a:srgbClr val="FFFFFF"/>
                </a:solidFill>
                <a:latin typeface="Rockwell Nova Extra Bold" panose="02060903020205020403" pitchFamily="18" charset="0"/>
                <a:ea typeface="Nunito SemiBold" pitchFamily="34" charset="-122"/>
                <a:cs typeface="Nunito SemiBold" pitchFamily="34" charset="-120"/>
              </a:rPr>
              <a:t>Mission Debriefing Dashboard</a:t>
            </a:r>
            <a:endParaRPr lang="en-US" sz="2750" dirty="0">
              <a:latin typeface="Rockwell Nova Extra Bold" panose="02060903020205020403" pitchFamily="18" charset="0"/>
            </a:endParaRPr>
          </a:p>
        </p:txBody>
      </p:sp>
      <p:sp>
        <p:nvSpPr>
          <p:cNvPr id="3" name="Text 1"/>
          <p:cNvSpPr/>
          <p:nvPr/>
        </p:nvSpPr>
        <p:spPr>
          <a:xfrm>
            <a:off x="698086" y="975816"/>
            <a:ext cx="10795524" cy="220563"/>
          </a:xfrm>
          <a:prstGeom prst="rect">
            <a:avLst/>
          </a:prstGeom>
          <a:noFill/>
          <a:ln/>
        </p:spPr>
        <p:txBody>
          <a:bodyPr wrap="none" lIns="0" tIns="0" rIns="0" bIns="0" rtlCol="0" anchor="t"/>
          <a:lstStyle/>
          <a:p>
            <a:pPr marL="0" indent="0" algn="ctr">
              <a:lnSpc>
                <a:spcPct val="104000"/>
              </a:lnSpc>
              <a:buNone/>
            </a:pPr>
            <a:r>
              <a:rPr lang="en-US" sz="1350" dirty="0">
                <a:solidFill>
                  <a:srgbClr val="FFFFFF"/>
                </a:solidFill>
                <a:latin typeface="Nunito SemiBold" pitchFamily="34" charset="0"/>
                <a:ea typeface="Nunito SemiBold" pitchFamily="34" charset="-122"/>
                <a:cs typeface="Nunito SemiBold" pitchFamily="34" charset="-120"/>
              </a:rPr>
              <a:t>A Web-Based Full-Stack Dashboard for Mission Information Management</a:t>
            </a:r>
            <a:endParaRPr lang="en-US" sz="1350" dirty="0"/>
          </a:p>
        </p:txBody>
      </p:sp>
      <p:pic>
        <p:nvPicPr>
          <p:cNvPr id="5" name="Image 0" descr="preencoded.png"/>
          <p:cNvPicPr>
            <a:picLocks noChangeAspect="1"/>
          </p:cNvPicPr>
          <p:nvPr/>
        </p:nvPicPr>
        <p:blipFill>
          <a:blip r:embed="rId3"/>
          <a:stretch>
            <a:fillRect/>
          </a:stretch>
        </p:blipFill>
        <p:spPr>
          <a:xfrm>
            <a:off x="742535" y="1757759"/>
            <a:ext cx="10706527" cy="4617045"/>
          </a:xfrm>
          <a:prstGeom prst="rect">
            <a:avLst/>
          </a:prstGeom>
        </p:spPr>
      </p:pic>
      <p:sp>
        <p:nvSpPr>
          <p:cNvPr id="6" name="Text 3"/>
          <p:cNvSpPr/>
          <p:nvPr/>
        </p:nvSpPr>
        <p:spPr>
          <a:xfrm>
            <a:off x="1462944" y="5508180"/>
            <a:ext cx="2285926" cy="285579"/>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Nunito SemiBold" pitchFamily="34" charset="0"/>
                <a:ea typeface="Nunito SemiBold" pitchFamily="34" charset="-122"/>
                <a:cs typeface="Nunito SemiBold" pitchFamily="34" charset="-120"/>
              </a:rPr>
              <a:t>JS Frontend</a:t>
            </a:r>
            <a:endParaRPr lang="en-US" sz="1800" dirty="0"/>
          </a:p>
        </p:txBody>
      </p:sp>
      <p:sp>
        <p:nvSpPr>
          <p:cNvPr id="7" name="Text 4"/>
          <p:cNvSpPr/>
          <p:nvPr/>
        </p:nvSpPr>
        <p:spPr>
          <a:xfrm>
            <a:off x="1462944" y="4439409"/>
            <a:ext cx="2285926" cy="285579"/>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Nunito SemiBold" pitchFamily="34" charset="0"/>
                <a:ea typeface="Nunito SemiBold" pitchFamily="34" charset="-122"/>
                <a:cs typeface="Nunito SemiBold" pitchFamily="34" charset="-120"/>
              </a:rPr>
              <a:t>REST API</a:t>
            </a:r>
            <a:endParaRPr lang="en-US" sz="1800" dirty="0"/>
          </a:p>
        </p:txBody>
      </p:sp>
      <p:sp>
        <p:nvSpPr>
          <p:cNvPr id="8" name="Text 5"/>
          <p:cNvSpPr/>
          <p:nvPr/>
        </p:nvSpPr>
        <p:spPr>
          <a:xfrm>
            <a:off x="1462944" y="3381433"/>
            <a:ext cx="2285926" cy="285579"/>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Nunito SemiBold" pitchFamily="34" charset="0"/>
                <a:ea typeface="Nunito SemiBold" pitchFamily="34" charset="-122"/>
                <a:cs typeface="Nunito SemiBold" pitchFamily="34" charset="-120"/>
              </a:rPr>
              <a:t>Node.js Backend</a:t>
            </a:r>
            <a:endParaRPr lang="en-US" sz="1800" dirty="0"/>
          </a:p>
        </p:txBody>
      </p:sp>
      <p:sp>
        <p:nvSpPr>
          <p:cNvPr id="9" name="Text 6"/>
          <p:cNvSpPr/>
          <p:nvPr/>
        </p:nvSpPr>
        <p:spPr>
          <a:xfrm>
            <a:off x="1462944" y="2312662"/>
            <a:ext cx="2285926" cy="285579"/>
          </a:xfrm>
          <a:prstGeom prst="rect">
            <a:avLst/>
          </a:prstGeom>
          <a:noFill/>
          <a:ln/>
        </p:spPr>
        <p:txBody>
          <a:bodyPr wrap="none" lIns="0" tIns="0" rIns="0" bIns="0" rtlCol="0" anchor="t"/>
          <a:lstStyle/>
          <a:p>
            <a:pPr marL="0" indent="0" algn="l">
              <a:lnSpc>
                <a:spcPct val="104000"/>
              </a:lnSpc>
              <a:buNone/>
            </a:pPr>
            <a:r>
              <a:rPr lang="en-US" sz="1800" dirty="0">
                <a:solidFill>
                  <a:srgbClr val="000000"/>
                </a:solidFill>
                <a:latin typeface="Nunito SemiBold" pitchFamily="34" charset="0"/>
                <a:ea typeface="Nunito SemiBold" pitchFamily="34" charset="-122"/>
                <a:cs typeface="Nunito SemiBold" pitchFamily="34" charset="-120"/>
              </a:rPr>
              <a:t>Postgres DB</a:t>
            </a:r>
            <a:endParaRPr lang="en-US" sz="1800" dirty="0"/>
          </a:p>
        </p:txBody>
      </p:sp>
      <p:sp>
        <p:nvSpPr>
          <p:cNvPr id="10" name="Rectangle 9">
            <a:extLst>
              <a:ext uri="{FF2B5EF4-FFF2-40B4-BE49-F238E27FC236}">
                <a16:creationId xmlns:a16="http://schemas.microsoft.com/office/drawing/2014/main" id="{FC7F1717-5F19-0C05-5277-D49A8D4BF519}"/>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98086" y="503346"/>
            <a:ext cx="10795524" cy="513259"/>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Project Overview</a:t>
            </a:r>
            <a:endParaRPr lang="en-US" sz="3200" dirty="0">
              <a:latin typeface="Rockwell Nova Extra Bold" panose="02060903020205020403" pitchFamily="18" charset="0"/>
            </a:endParaRPr>
          </a:p>
        </p:txBody>
      </p:sp>
      <p:sp>
        <p:nvSpPr>
          <p:cNvPr id="3" name="Text 1"/>
          <p:cNvSpPr/>
          <p:nvPr/>
        </p:nvSpPr>
        <p:spPr>
          <a:xfrm>
            <a:off x="698086" y="1140718"/>
            <a:ext cx="10795524" cy="558403"/>
          </a:xfrm>
          <a:prstGeom prst="rect">
            <a:avLst/>
          </a:prstGeom>
          <a:noFill/>
          <a:ln/>
        </p:spPr>
        <p:txBody>
          <a:bodyPr wrap="square" lIns="0" tIns="0" rIns="0" bIns="0" rtlCol="0" anchor="t">
            <a:normAutofit lnSpcReduction="10000"/>
          </a:bodyPr>
          <a:lstStyle/>
          <a:p>
            <a:pPr marL="0" indent="0" algn="l">
              <a:lnSpc>
                <a:spcPct val="133000"/>
              </a:lnSpc>
              <a:buNone/>
            </a:pPr>
            <a:r>
              <a:rPr lang="en-US" sz="1400" dirty="0">
                <a:solidFill>
                  <a:srgbClr val="FFFFFF"/>
                </a:solidFill>
                <a:latin typeface="PT Sans" pitchFamily="34" charset="0"/>
                <a:ea typeface="PT Sans" pitchFamily="34" charset="-122"/>
                <a:cs typeface="PT Sans" pitchFamily="34" charset="-120"/>
              </a:rPr>
              <a:t>A full-stack application demonstrating client–server architecture, API design, database integration, and dynamic frontend rendering — built to centralize and streamline mission debriefing workflows.</a:t>
            </a:r>
          </a:p>
          <a:p>
            <a:pPr marL="0" indent="0" algn="l">
              <a:lnSpc>
                <a:spcPct val="100000"/>
              </a:lnSpc>
              <a:buNone/>
            </a:pPr>
            <a:endParaRPr lang="en-US" sz="1350" dirty="0"/>
          </a:p>
        </p:txBody>
      </p:sp>
      <p:sp>
        <p:nvSpPr>
          <p:cNvPr id="4" name="Shape 2"/>
          <p:cNvSpPr/>
          <p:nvPr/>
        </p:nvSpPr>
        <p:spPr>
          <a:xfrm>
            <a:off x="698086" y="2843312"/>
            <a:ext cx="5310452" cy="1306909"/>
          </a:xfrm>
          <a:prstGeom prst="roundRect">
            <a:avLst>
              <a:gd name="adj" fmla="val 20033"/>
            </a:avLst>
          </a:prstGeom>
          <a:solidFill>
            <a:srgbClr val="00002E"/>
          </a:solidFill>
          <a:ln w="19050">
            <a:solidFill>
              <a:srgbClr val="F2B42D"/>
            </a:solidFill>
            <a:prstDash val="solid"/>
          </a:ln>
        </p:spPr>
      </p:sp>
      <p:sp>
        <p:nvSpPr>
          <p:cNvPr id="5" name="Text 3"/>
          <p:cNvSpPr/>
          <p:nvPr/>
        </p:nvSpPr>
        <p:spPr>
          <a:xfrm>
            <a:off x="891657" y="3036887"/>
            <a:ext cx="4923310"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Centralized Dashboard</a:t>
            </a:r>
            <a:endParaRPr lang="en-US" sz="1600" dirty="0"/>
          </a:p>
        </p:txBody>
      </p:sp>
      <p:sp>
        <p:nvSpPr>
          <p:cNvPr id="6" name="Text 4"/>
          <p:cNvSpPr/>
          <p:nvPr/>
        </p:nvSpPr>
        <p:spPr>
          <a:xfrm>
            <a:off x="891657" y="3398242"/>
            <a:ext cx="4923310" cy="558403"/>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Web-based interface for organizing mission debriefing information into structured, navigable sections.</a:t>
            </a:r>
            <a:endParaRPr lang="en-US" sz="1350" dirty="0"/>
          </a:p>
        </p:txBody>
      </p:sp>
      <p:sp>
        <p:nvSpPr>
          <p:cNvPr id="7" name="Shape 5"/>
          <p:cNvSpPr/>
          <p:nvPr/>
        </p:nvSpPr>
        <p:spPr>
          <a:xfrm>
            <a:off x="6183059" y="2843312"/>
            <a:ext cx="5310551" cy="1306909"/>
          </a:xfrm>
          <a:prstGeom prst="roundRect">
            <a:avLst>
              <a:gd name="adj" fmla="val 20033"/>
            </a:avLst>
          </a:prstGeom>
          <a:solidFill>
            <a:srgbClr val="00002E"/>
          </a:solidFill>
          <a:ln w="19050">
            <a:solidFill>
              <a:srgbClr val="D7425E"/>
            </a:solidFill>
            <a:prstDash val="solid"/>
          </a:ln>
        </p:spPr>
      </p:sp>
      <p:sp>
        <p:nvSpPr>
          <p:cNvPr id="8" name="Text 6"/>
          <p:cNvSpPr/>
          <p:nvPr/>
        </p:nvSpPr>
        <p:spPr>
          <a:xfrm>
            <a:off x="6376630" y="3036887"/>
            <a:ext cx="4923409"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Data Visualization</a:t>
            </a:r>
            <a:endParaRPr lang="en-US" sz="1600" dirty="0"/>
          </a:p>
        </p:txBody>
      </p:sp>
      <p:sp>
        <p:nvSpPr>
          <p:cNvPr id="9" name="Text 7"/>
          <p:cNvSpPr/>
          <p:nvPr/>
        </p:nvSpPr>
        <p:spPr>
          <a:xfrm>
            <a:off x="6376630" y="3398242"/>
            <a:ext cx="4923409" cy="558403"/>
          </a:xfrm>
          <a:prstGeom prst="rect">
            <a:avLst/>
          </a:prstGeom>
          <a:noFill/>
          <a:ln/>
        </p:spPr>
        <p:txBody>
          <a:bodyPr wrap="square" lIns="0" tIns="0" rIns="0" bIns="0" rtlCol="0" anchor="t">
            <a:normAutofit/>
          </a:bodyPr>
          <a:lstStyle/>
          <a:p>
            <a:r>
              <a:rPr lang="en-IN" sz="1400" dirty="0">
                <a:solidFill>
                  <a:schemeClr val="bg1"/>
                </a:solidFill>
              </a:rPr>
              <a:t>Map-based and structured visualizations for mission information review</a:t>
            </a:r>
            <a:endParaRPr lang="en-US" sz="1350" dirty="0">
              <a:solidFill>
                <a:schemeClr val="bg1"/>
              </a:solidFill>
            </a:endParaRPr>
          </a:p>
        </p:txBody>
      </p:sp>
      <p:sp>
        <p:nvSpPr>
          <p:cNvPr id="10" name="Shape 8"/>
          <p:cNvSpPr/>
          <p:nvPr/>
        </p:nvSpPr>
        <p:spPr>
          <a:xfrm>
            <a:off x="698086" y="4324747"/>
            <a:ext cx="5310452" cy="1306909"/>
          </a:xfrm>
          <a:prstGeom prst="roundRect">
            <a:avLst>
              <a:gd name="adj" fmla="val 20033"/>
            </a:avLst>
          </a:prstGeom>
          <a:solidFill>
            <a:srgbClr val="00002E"/>
          </a:solidFill>
          <a:ln w="19050">
            <a:solidFill>
              <a:srgbClr val="DD785E"/>
            </a:solidFill>
            <a:prstDash val="solid"/>
          </a:ln>
        </p:spPr>
      </p:sp>
      <p:sp>
        <p:nvSpPr>
          <p:cNvPr id="11" name="Text 9"/>
          <p:cNvSpPr/>
          <p:nvPr/>
        </p:nvSpPr>
        <p:spPr>
          <a:xfrm>
            <a:off x="891657" y="4518323"/>
            <a:ext cx="4923310"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Editing Capabilities</a:t>
            </a:r>
            <a:endParaRPr lang="en-US" sz="1600" dirty="0"/>
          </a:p>
        </p:txBody>
      </p:sp>
      <p:sp>
        <p:nvSpPr>
          <p:cNvPr id="12" name="Text 10"/>
          <p:cNvSpPr/>
          <p:nvPr/>
        </p:nvSpPr>
        <p:spPr>
          <a:xfrm>
            <a:off x="891657" y="4879677"/>
            <a:ext cx="4923310" cy="558403"/>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In-dashboard editing of selected mission fields with backend persistence via REST API.</a:t>
            </a:r>
            <a:endParaRPr lang="en-US" sz="1350" dirty="0"/>
          </a:p>
        </p:txBody>
      </p:sp>
      <p:sp>
        <p:nvSpPr>
          <p:cNvPr id="13" name="Shape 11"/>
          <p:cNvSpPr/>
          <p:nvPr/>
        </p:nvSpPr>
        <p:spPr>
          <a:xfrm>
            <a:off x="6183059" y="4324747"/>
            <a:ext cx="5310551" cy="1306909"/>
          </a:xfrm>
          <a:prstGeom prst="roundRect">
            <a:avLst>
              <a:gd name="adj" fmla="val 20033"/>
            </a:avLst>
          </a:prstGeom>
          <a:solidFill>
            <a:srgbClr val="00002E"/>
          </a:solidFill>
          <a:ln w="19050">
            <a:solidFill>
              <a:srgbClr val="48A8E2"/>
            </a:solidFill>
            <a:prstDash val="solid"/>
          </a:ln>
        </p:spPr>
      </p:sp>
      <p:sp>
        <p:nvSpPr>
          <p:cNvPr id="14" name="Text 12"/>
          <p:cNvSpPr/>
          <p:nvPr/>
        </p:nvSpPr>
        <p:spPr>
          <a:xfrm>
            <a:off x="6376630" y="4518323"/>
            <a:ext cx="4923409"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CSV Export</a:t>
            </a:r>
            <a:endParaRPr lang="en-US" sz="1600" dirty="0"/>
          </a:p>
        </p:txBody>
      </p:sp>
      <p:sp>
        <p:nvSpPr>
          <p:cNvPr id="15" name="Text 13"/>
          <p:cNvSpPr/>
          <p:nvPr/>
        </p:nvSpPr>
        <p:spPr>
          <a:xfrm>
            <a:off x="6376630" y="4879677"/>
            <a:ext cx="4923409" cy="558403"/>
          </a:xfrm>
          <a:prstGeom prst="rect">
            <a:avLst/>
          </a:prstGeom>
          <a:noFill/>
          <a:ln/>
        </p:spPr>
        <p:txBody>
          <a:bodyPr wrap="square" lIns="0" tIns="0" rIns="0" bIns="0" rtlCol="0" anchor="t">
            <a:normAutofit/>
          </a:bodyPr>
          <a:lstStyle/>
          <a:p>
            <a:r>
              <a:rPr lang="en-IN" sz="1400" dirty="0">
                <a:solidFill>
                  <a:schemeClr val="bg1"/>
                </a:solidFill>
              </a:rPr>
              <a:t>Export mission records into a structured CSV file for external use and record keeping.</a:t>
            </a:r>
            <a:endParaRPr lang="en-US" sz="1350" dirty="0">
              <a:solidFill>
                <a:schemeClr val="bg1"/>
              </a:solidFill>
            </a:endParaRPr>
          </a:p>
        </p:txBody>
      </p:sp>
      <p:sp>
        <p:nvSpPr>
          <p:cNvPr id="17" name="Rectangle 16">
            <a:extLst>
              <a:ext uri="{FF2B5EF4-FFF2-40B4-BE49-F238E27FC236}">
                <a16:creationId xmlns:a16="http://schemas.microsoft.com/office/drawing/2014/main" id="{A59909B6-C4F7-5B58-6981-A55544F9A105}"/>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BCB0E9D9-8100-1F8E-B88E-677C56FF4427}"/>
              </a:ext>
            </a:extLst>
          </p:cNvPr>
          <p:cNvSpPr txBox="1"/>
          <p:nvPr/>
        </p:nvSpPr>
        <p:spPr>
          <a:xfrm>
            <a:off x="618564" y="1740164"/>
            <a:ext cx="10524565" cy="730969"/>
          </a:xfrm>
          <a:prstGeom prst="rect">
            <a:avLst/>
          </a:prstGeom>
          <a:noFill/>
        </p:spPr>
        <p:txBody>
          <a:bodyPr wrap="square">
            <a:spAutoFit/>
          </a:bodyPr>
          <a:lstStyle/>
          <a:p>
            <a:r>
              <a:rPr lang="en-IN" sz="1400" dirty="0">
                <a:solidFill>
                  <a:schemeClr val="bg1"/>
                </a:solidFill>
                <a:latin typeface="PT Sans" panose="020B0503020203020204" pitchFamily="34" charset="0"/>
              </a:rPr>
              <a:t>It transforms structured mission data into an accessible and interactive dashboard for post-mission review and debriefing. It brings mission information from different sources together in one centralized interface, making it easier to access, navigate, and review.</a:t>
            </a:r>
          </a:p>
          <a:p>
            <a:endParaRPr lang="en-US" sz="1350" dirty="0">
              <a:solidFill>
                <a:schemeClr val="bg1"/>
              </a:solidFill>
              <a:latin typeface="PT Sans" panose="020B0503020203020204" pitchFamily="34" charset="0"/>
              <a:ea typeface="PT Sans" pitchFamily="34" charset="-122"/>
              <a:cs typeface="PT Sans" pitchFamily="34" charset="-12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98086" y="637381"/>
            <a:ext cx="10795524" cy="473273"/>
          </a:xfrm>
          <a:prstGeom prst="rect">
            <a:avLst/>
          </a:prstGeom>
          <a:noFill/>
          <a:ln/>
        </p:spPr>
        <p:txBody>
          <a:bodyPr wrap="none" lIns="0" tIns="0" rIns="0" bIns="0" rtlCol="0" anchor="t"/>
          <a:lstStyle/>
          <a:p>
            <a:pPr marL="0" indent="0" algn="l">
              <a:lnSpc>
                <a:spcPct val="104000"/>
              </a:lnSpc>
              <a:buNone/>
            </a:pPr>
            <a:r>
              <a:rPr lang="en-US" sz="2950" dirty="0">
                <a:solidFill>
                  <a:srgbClr val="FFFFFF"/>
                </a:solidFill>
                <a:latin typeface="Rockwell Nova Extra Bold" panose="02060903020205020403" pitchFamily="18" charset="0"/>
                <a:ea typeface="Nunito SemiBold" pitchFamily="34" charset="-122"/>
                <a:cs typeface="Nunito SemiBold" pitchFamily="34" charset="-120"/>
              </a:rPr>
              <a:t>System Architecture</a:t>
            </a:r>
            <a:endParaRPr lang="en-US" sz="2950" dirty="0">
              <a:latin typeface="Rockwell Nova Extra Bold" panose="02060903020205020403" pitchFamily="18" charset="0"/>
            </a:endParaRPr>
          </a:p>
        </p:txBody>
      </p:sp>
      <p:sp>
        <p:nvSpPr>
          <p:cNvPr id="3" name="Shape 1"/>
          <p:cNvSpPr/>
          <p:nvPr/>
        </p:nvSpPr>
        <p:spPr>
          <a:xfrm>
            <a:off x="582201" y="1333103"/>
            <a:ext cx="5992663" cy="4887416"/>
          </a:xfrm>
          <a:prstGeom prst="roundRect">
            <a:avLst>
              <a:gd name="adj" fmla="val 7901"/>
            </a:avLst>
          </a:prstGeom>
          <a:solidFill>
            <a:srgbClr val="2D2E34">
              <a:alpha val="75000"/>
            </a:srgbClr>
          </a:solidFill>
          <a:ln/>
        </p:spPr>
      </p:sp>
      <p:sp>
        <p:nvSpPr>
          <p:cNvPr id="4" name="Text 2"/>
          <p:cNvSpPr/>
          <p:nvPr/>
        </p:nvSpPr>
        <p:spPr>
          <a:xfrm>
            <a:off x="743031" y="1481435"/>
            <a:ext cx="5671003"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Primary Data Flow</a:t>
            </a:r>
            <a:endParaRPr lang="en-US" sz="1450" dirty="0"/>
          </a:p>
        </p:txBody>
      </p:sp>
      <p:pic>
        <p:nvPicPr>
          <p:cNvPr id="5" name="Image 0" descr="preencoded.png"/>
          <p:cNvPicPr>
            <a:picLocks noChangeAspect="1"/>
          </p:cNvPicPr>
          <p:nvPr/>
        </p:nvPicPr>
        <p:blipFill>
          <a:blip r:embed="rId3"/>
          <a:stretch>
            <a:fillRect/>
          </a:stretch>
        </p:blipFill>
        <p:spPr>
          <a:xfrm>
            <a:off x="743031" y="1884859"/>
            <a:ext cx="804446" cy="965398"/>
          </a:xfrm>
          <a:prstGeom prst="rect">
            <a:avLst/>
          </a:prstGeom>
        </p:spPr>
      </p:pic>
      <p:sp>
        <p:nvSpPr>
          <p:cNvPr id="6" name="Text 3"/>
          <p:cNvSpPr/>
          <p:nvPr/>
        </p:nvSpPr>
        <p:spPr>
          <a:xfrm>
            <a:off x="1695804" y="2045692"/>
            <a:ext cx="4718230"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PostgreSQL</a:t>
            </a:r>
            <a:endParaRPr lang="en-US" sz="1450" dirty="0"/>
          </a:p>
        </p:txBody>
      </p:sp>
      <p:sp>
        <p:nvSpPr>
          <p:cNvPr id="7" name="Text 4"/>
          <p:cNvSpPr/>
          <p:nvPr/>
        </p:nvSpPr>
        <p:spPr>
          <a:xfrm>
            <a:off x="1695804" y="2430661"/>
            <a:ext cx="4718230" cy="247352"/>
          </a:xfrm>
          <a:prstGeom prst="rect">
            <a:avLst/>
          </a:prstGeom>
          <a:noFill/>
          <a:ln/>
        </p:spPr>
        <p:txBody>
          <a:bodyPr wrap="none" lIns="0" tIns="0" rIns="0" bIns="0" rtlCol="0" anchor="t"/>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Persistent mission data storage</a:t>
            </a:r>
            <a:endParaRPr lang="en-US" sz="1250" dirty="0"/>
          </a:p>
        </p:txBody>
      </p:sp>
      <p:pic>
        <p:nvPicPr>
          <p:cNvPr id="8" name="Image 1" descr="preencoded.png"/>
          <p:cNvPicPr>
            <a:picLocks noChangeAspect="1"/>
          </p:cNvPicPr>
          <p:nvPr/>
        </p:nvPicPr>
        <p:blipFill>
          <a:blip r:embed="rId4"/>
          <a:stretch>
            <a:fillRect/>
          </a:stretch>
        </p:blipFill>
        <p:spPr>
          <a:xfrm>
            <a:off x="743031" y="2850257"/>
            <a:ext cx="804446" cy="965398"/>
          </a:xfrm>
          <a:prstGeom prst="rect">
            <a:avLst/>
          </a:prstGeom>
        </p:spPr>
      </p:pic>
      <p:sp>
        <p:nvSpPr>
          <p:cNvPr id="9" name="Text 5"/>
          <p:cNvSpPr/>
          <p:nvPr/>
        </p:nvSpPr>
        <p:spPr>
          <a:xfrm>
            <a:off x="1695804" y="3011091"/>
            <a:ext cx="4718230"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Node.js + Express.js</a:t>
            </a:r>
            <a:endParaRPr lang="en-US" sz="1450" dirty="0"/>
          </a:p>
        </p:txBody>
      </p:sp>
      <p:sp>
        <p:nvSpPr>
          <p:cNvPr id="10" name="Text 6"/>
          <p:cNvSpPr/>
          <p:nvPr/>
        </p:nvSpPr>
        <p:spPr>
          <a:xfrm>
            <a:off x="1695804" y="3396059"/>
            <a:ext cx="4718230" cy="247352"/>
          </a:xfrm>
          <a:prstGeom prst="rect">
            <a:avLst/>
          </a:prstGeom>
          <a:noFill/>
          <a:ln/>
        </p:spPr>
        <p:txBody>
          <a:bodyPr wrap="none" lIns="0" tIns="0" rIns="0" bIns="0" rtlCol="0" anchor="t"/>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Server-side logic and API routing</a:t>
            </a:r>
            <a:endParaRPr lang="en-US" sz="1250" dirty="0"/>
          </a:p>
        </p:txBody>
      </p:sp>
      <p:pic>
        <p:nvPicPr>
          <p:cNvPr id="11" name="Image 2" descr="preencoded.png"/>
          <p:cNvPicPr>
            <a:picLocks noChangeAspect="1"/>
          </p:cNvPicPr>
          <p:nvPr/>
        </p:nvPicPr>
        <p:blipFill>
          <a:blip r:embed="rId5"/>
          <a:stretch>
            <a:fillRect/>
          </a:stretch>
        </p:blipFill>
        <p:spPr>
          <a:xfrm>
            <a:off x="743031" y="3815655"/>
            <a:ext cx="804446" cy="965398"/>
          </a:xfrm>
          <a:prstGeom prst="rect">
            <a:avLst/>
          </a:prstGeom>
        </p:spPr>
      </p:pic>
      <p:sp>
        <p:nvSpPr>
          <p:cNvPr id="12" name="Text 7"/>
          <p:cNvSpPr/>
          <p:nvPr/>
        </p:nvSpPr>
        <p:spPr>
          <a:xfrm>
            <a:off x="1695804" y="3976489"/>
            <a:ext cx="4718230"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REST API / JSON</a:t>
            </a:r>
            <a:endParaRPr lang="en-US" sz="1450" dirty="0"/>
          </a:p>
        </p:txBody>
      </p:sp>
      <p:sp>
        <p:nvSpPr>
          <p:cNvPr id="13" name="Text 8"/>
          <p:cNvSpPr/>
          <p:nvPr/>
        </p:nvSpPr>
        <p:spPr>
          <a:xfrm>
            <a:off x="1695804" y="4361458"/>
            <a:ext cx="4718230" cy="247352"/>
          </a:xfrm>
          <a:prstGeom prst="rect">
            <a:avLst/>
          </a:prstGeom>
          <a:noFill/>
          <a:ln/>
        </p:spPr>
        <p:txBody>
          <a:bodyPr wrap="none" lIns="0" tIns="0" rIns="0" bIns="0" rtlCol="0" anchor="t"/>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Structured HTTP communication layer</a:t>
            </a:r>
            <a:endParaRPr lang="en-US" sz="1250" dirty="0"/>
          </a:p>
        </p:txBody>
      </p:sp>
      <p:pic>
        <p:nvPicPr>
          <p:cNvPr id="14" name="Image 3" descr="preencoded.png"/>
          <p:cNvPicPr>
            <a:picLocks noChangeAspect="1"/>
          </p:cNvPicPr>
          <p:nvPr/>
        </p:nvPicPr>
        <p:blipFill>
          <a:blip r:embed="rId6"/>
          <a:stretch>
            <a:fillRect/>
          </a:stretch>
        </p:blipFill>
        <p:spPr>
          <a:xfrm>
            <a:off x="743031" y="4781054"/>
            <a:ext cx="804446" cy="965398"/>
          </a:xfrm>
          <a:prstGeom prst="rect">
            <a:avLst/>
          </a:prstGeom>
        </p:spPr>
      </p:pic>
      <p:sp>
        <p:nvSpPr>
          <p:cNvPr id="15" name="Text 9"/>
          <p:cNvSpPr/>
          <p:nvPr/>
        </p:nvSpPr>
        <p:spPr>
          <a:xfrm>
            <a:off x="1695804" y="4941888"/>
            <a:ext cx="4718230"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Frontend JavaScript</a:t>
            </a:r>
            <a:endParaRPr lang="en-US" sz="1450" dirty="0"/>
          </a:p>
        </p:txBody>
      </p:sp>
      <p:sp>
        <p:nvSpPr>
          <p:cNvPr id="16" name="Text 10"/>
          <p:cNvSpPr/>
          <p:nvPr/>
        </p:nvSpPr>
        <p:spPr>
          <a:xfrm>
            <a:off x="1695804" y="5326856"/>
            <a:ext cx="4718230" cy="247352"/>
          </a:xfrm>
          <a:prstGeom prst="rect">
            <a:avLst/>
          </a:prstGeom>
          <a:noFill/>
          <a:ln/>
        </p:spPr>
        <p:txBody>
          <a:bodyPr wrap="none" lIns="0" tIns="0" rIns="0" bIns="0" rtlCol="0" anchor="t"/>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Dynamic rendering and DOM updates</a:t>
            </a:r>
            <a:endParaRPr lang="en-US" sz="1250" dirty="0"/>
          </a:p>
        </p:txBody>
      </p:sp>
      <p:sp>
        <p:nvSpPr>
          <p:cNvPr id="17" name="Text 11"/>
          <p:cNvSpPr/>
          <p:nvPr/>
        </p:nvSpPr>
        <p:spPr>
          <a:xfrm>
            <a:off x="6857828" y="1481435"/>
            <a:ext cx="4642032"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Map Integration Pipeline</a:t>
            </a:r>
            <a:endParaRPr lang="en-US" sz="1450" dirty="0"/>
          </a:p>
        </p:txBody>
      </p:sp>
      <p:sp>
        <p:nvSpPr>
          <p:cNvPr id="18" name="Text 12"/>
          <p:cNvSpPr/>
          <p:nvPr/>
        </p:nvSpPr>
        <p:spPr>
          <a:xfrm>
            <a:off x="6857828" y="1884859"/>
            <a:ext cx="321758" cy="201116"/>
          </a:xfrm>
          <a:prstGeom prst="rect">
            <a:avLst/>
          </a:prstGeom>
          <a:noFill/>
          <a:ln/>
        </p:spPr>
        <p:txBody>
          <a:bodyPr wrap="none" lIns="0" tIns="0" rIns="0" bIns="0" rtlCol="0" anchor="ctr"/>
          <a:lstStyle/>
          <a:p>
            <a:pPr marL="0" indent="0" algn="l">
              <a:lnSpc>
                <a:spcPct val="100000"/>
              </a:lnSpc>
              <a:buNone/>
            </a:pPr>
            <a:r>
              <a:rPr lang="en-US" sz="1250" dirty="0">
                <a:solidFill>
                  <a:srgbClr val="FFFFFF"/>
                </a:solidFill>
                <a:latin typeface="Nunito Light" pitchFamily="34" charset="0"/>
                <a:ea typeface="Nunito Light" pitchFamily="34" charset="-122"/>
                <a:cs typeface="Nunito Light" pitchFamily="34" charset="-120"/>
              </a:rPr>
              <a:t>01</a:t>
            </a:r>
            <a:endParaRPr lang="en-US" sz="1250" dirty="0"/>
          </a:p>
        </p:txBody>
      </p:sp>
      <p:sp>
        <p:nvSpPr>
          <p:cNvPr id="19" name="Shape 13"/>
          <p:cNvSpPr/>
          <p:nvPr/>
        </p:nvSpPr>
        <p:spPr>
          <a:xfrm>
            <a:off x="6857828" y="2139255"/>
            <a:ext cx="4642032" cy="19050"/>
          </a:xfrm>
          <a:prstGeom prst="rect">
            <a:avLst/>
          </a:prstGeom>
          <a:solidFill>
            <a:srgbClr val="F2B42D"/>
          </a:solidFill>
          <a:ln/>
        </p:spPr>
      </p:sp>
      <p:sp>
        <p:nvSpPr>
          <p:cNvPr id="20" name="Text 14"/>
          <p:cNvSpPr/>
          <p:nvPr/>
        </p:nvSpPr>
        <p:spPr>
          <a:xfrm>
            <a:off x="6857828" y="2257723"/>
            <a:ext cx="4642032"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GeoServer</a:t>
            </a:r>
            <a:endParaRPr lang="en-US" sz="1450" dirty="0"/>
          </a:p>
        </p:txBody>
      </p:sp>
      <p:sp>
        <p:nvSpPr>
          <p:cNvPr id="21" name="Text 15"/>
          <p:cNvSpPr/>
          <p:nvPr/>
        </p:nvSpPr>
        <p:spPr>
          <a:xfrm>
            <a:off x="6857828" y="2642691"/>
            <a:ext cx="4642032" cy="247352"/>
          </a:xfrm>
          <a:prstGeom prst="rect">
            <a:avLst/>
          </a:prstGeom>
          <a:noFill/>
          <a:ln/>
        </p:spPr>
        <p:txBody>
          <a:bodyPr wrap="none" lIns="0" tIns="0" rIns="0" bIns="0" rtlCol="0" anchor="t"/>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Serves geospatial layers and tile data via OGC-compliant endpoints.</a:t>
            </a:r>
            <a:endParaRPr lang="en-US" sz="1250" dirty="0"/>
          </a:p>
        </p:txBody>
      </p:sp>
      <p:sp>
        <p:nvSpPr>
          <p:cNvPr id="22" name="Text 16"/>
          <p:cNvSpPr/>
          <p:nvPr/>
        </p:nvSpPr>
        <p:spPr>
          <a:xfrm>
            <a:off x="6857828" y="3159026"/>
            <a:ext cx="321758" cy="201116"/>
          </a:xfrm>
          <a:prstGeom prst="rect">
            <a:avLst/>
          </a:prstGeom>
          <a:noFill/>
          <a:ln/>
        </p:spPr>
        <p:txBody>
          <a:bodyPr wrap="none" lIns="0" tIns="0" rIns="0" bIns="0" rtlCol="0" anchor="ctr"/>
          <a:lstStyle/>
          <a:p>
            <a:pPr marL="0" indent="0" algn="l">
              <a:lnSpc>
                <a:spcPct val="100000"/>
              </a:lnSpc>
              <a:buNone/>
            </a:pPr>
            <a:r>
              <a:rPr lang="en-US" sz="1250" dirty="0">
                <a:solidFill>
                  <a:srgbClr val="FFFFFF"/>
                </a:solidFill>
                <a:latin typeface="Nunito Light" pitchFamily="34" charset="0"/>
                <a:ea typeface="Nunito Light" pitchFamily="34" charset="-122"/>
                <a:cs typeface="Nunito Light" pitchFamily="34" charset="-120"/>
              </a:rPr>
              <a:t>02</a:t>
            </a:r>
            <a:endParaRPr lang="en-US" sz="1250" dirty="0"/>
          </a:p>
        </p:txBody>
      </p:sp>
      <p:sp>
        <p:nvSpPr>
          <p:cNvPr id="23" name="Shape 17"/>
          <p:cNvSpPr/>
          <p:nvPr/>
        </p:nvSpPr>
        <p:spPr>
          <a:xfrm>
            <a:off x="6857828" y="3413423"/>
            <a:ext cx="4642032" cy="19050"/>
          </a:xfrm>
          <a:prstGeom prst="rect">
            <a:avLst/>
          </a:prstGeom>
          <a:solidFill>
            <a:srgbClr val="D7425E"/>
          </a:solidFill>
          <a:ln/>
        </p:spPr>
      </p:sp>
      <p:sp>
        <p:nvSpPr>
          <p:cNvPr id="24" name="Text 18"/>
          <p:cNvSpPr/>
          <p:nvPr/>
        </p:nvSpPr>
        <p:spPr>
          <a:xfrm>
            <a:off x="6857828" y="3531890"/>
            <a:ext cx="4642032"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OpenLayers</a:t>
            </a:r>
            <a:endParaRPr lang="en-US" sz="1450" dirty="0"/>
          </a:p>
        </p:txBody>
      </p:sp>
      <p:sp>
        <p:nvSpPr>
          <p:cNvPr id="25" name="Text 19"/>
          <p:cNvSpPr/>
          <p:nvPr/>
        </p:nvSpPr>
        <p:spPr>
          <a:xfrm>
            <a:off x="6857828" y="3916859"/>
            <a:ext cx="4642032" cy="494705"/>
          </a:xfrm>
          <a:prstGeom prst="rect">
            <a:avLst/>
          </a:prstGeom>
          <a:noFill/>
          <a:ln/>
        </p:spPr>
        <p:txBody>
          <a:bodyPr wrap="square" lIns="0" tIns="0" rIns="0" bIns="0" rtlCol="0" anchor="t">
            <a:normAutofit/>
          </a:bodyPr>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Client-side mapping library that consumes GeoServer layers and renders them in the browser.</a:t>
            </a:r>
            <a:endParaRPr lang="en-US" sz="1250" dirty="0"/>
          </a:p>
        </p:txBody>
      </p:sp>
      <p:sp>
        <p:nvSpPr>
          <p:cNvPr id="26" name="Text 20"/>
          <p:cNvSpPr/>
          <p:nvPr/>
        </p:nvSpPr>
        <p:spPr>
          <a:xfrm>
            <a:off x="6857828" y="4680545"/>
            <a:ext cx="321758" cy="201116"/>
          </a:xfrm>
          <a:prstGeom prst="rect">
            <a:avLst/>
          </a:prstGeom>
          <a:noFill/>
          <a:ln/>
        </p:spPr>
        <p:txBody>
          <a:bodyPr wrap="none" lIns="0" tIns="0" rIns="0" bIns="0" rtlCol="0" anchor="ctr"/>
          <a:lstStyle/>
          <a:p>
            <a:pPr marL="0" indent="0" algn="l">
              <a:lnSpc>
                <a:spcPct val="100000"/>
              </a:lnSpc>
              <a:buNone/>
            </a:pPr>
            <a:r>
              <a:rPr lang="en-US" sz="1250" dirty="0">
                <a:solidFill>
                  <a:srgbClr val="FFFFFF"/>
                </a:solidFill>
                <a:latin typeface="Nunito Light" pitchFamily="34" charset="0"/>
                <a:ea typeface="Nunito Light" pitchFamily="34" charset="-122"/>
                <a:cs typeface="Nunito Light" pitchFamily="34" charset="-120"/>
              </a:rPr>
              <a:t>03</a:t>
            </a:r>
            <a:endParaRPr lang="en-US" sz="1250" dirty="0"/>
          </a:p>
        </p:txBody>
      </p:sp>
      <p:sp>
        <p:nvSpPr>
          <p:cNvPr id="27" name="Shape 21"/>
          <p:cNvSpPr/>
          <p:nvPr/>
        </p:nvSpPr>
        <p:spPr>
          <a:xfrm>
            <a:off x="6857828" y="4934942"/>
            <a:ext cx="4642032" cy="19050"/>
          </a:xfrm>
          <a:prstGeom prst="rect">
            <a:avLst/>
          </a:prstGeom>
          <a:solidFill>
            <a:srgbClr val="DD785E"/>
          </a:solidFill>
          <a:ln/>
        </p:spPr>
      </p:sp>
      <p:sp>
        <p:nvSpPr>
          <p:cNvPr id="28" name="Text 22"/>
          <p:cNvSpPr/>
          <p:nvPr/>
        </p:nvSpPr>
        <p:spPr>
          <a:xfrm>
            <a:off x="6857828" y="5053409"/>
            <a:ext cx="4642032"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Dashboard Map View</a:t>
            </a:r>
            <a:endParaRPr lang="en-US" sz="1450" dirty="0"/>
          </a:p>
        </p:txBody>
      </p:sp>
      <p:sp>
        <p:nvSpPr>
          <p:cNvPr id="29" name="Text 23"/>
          <p:cNvSpPr/>
          <p:nvPr/>
        </p:nvSpPr>
        <p:spPr>
          <a:xfrm>
            <a:off x="6857828" y="5438378"/>
            <a:ext cx="4642032" cy="494705"/>
          </a:xfrm>
          <a:prstGeom prst="rect">
            <a:avLst/>
          </a:prstGeom>
          <a:noFill/>
          <a:ln/>
        </p:spPr>
        <p:txBody>
          <a:bodyPr wrap="square" lIns="0" tIns="0" rIns="0" bIns="0" rtlCol="0" anchor="t">
            <a:normAutofit/>
          </a:bodyPr>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Interactive map panel embedded within the mission debriefing interface.</a:t>
            </a:r>
            <a:endParaRPr lang="en-US" sz="1250" dirty="0"/>
          </a:p>
        </p:txBody>
      </p:sp>
      <p:sp>
        <p:nvSpPr>
          <p:cNvPr id="31" name="Rectangle 30">
            <a:extLst>
              <a:ext uri="{FF2B5EF4-FFF2-40B4-BE49-F238E27FC236}">
                <a16:creationId xmlns:a16="http://schemas.microsoft.com/office/drawing/2014/main" id="{6D2A8BDE-2BBE-076E-BAFD-CF103A52AD2D}"/>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B777AB-8E59-BAB8-4F16-CE60A7568C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87E1CCD-7179-E401-5EAC-0458E2D52C1D}"/>
              </a:ext>
            </a:extLst>
          </p:cNvPr>
          <p:cNvSpPr/>
          <p:nvPr/>
        </p:nvSpPr>
        <p:spPr>
          <a:xfrm>
            <a:off x="698086" y="637381"/>
            <a:ext cx="10795524" cy="473273"/>
          </a:xfrm>
          <a:prstGeom prst="rect">
            <a:avLst/>
          </a:prstGeom>
          <a:noFill/>
          <a:ln/>
        </p:spPr>
        <p:txBody>
          <a:bodyPr wrap="none" lIns="0" tIns="0" rIns="0" bIns="0" rtlCol="0" anchor="t"/>
          <a:lstStyle/>
          <a:p>
            <a:pPr marL="0" indent="0" algn="l">
              <a:lnSpc>
                <a:spcPct val="104000"/>
              </a:lnSpc>
              <a:buNone/>
            </a:pPr>
            <a:endParaRPr lang="en-US" sz="2950" dirty="0">
              <a:latin typeface="Rockwell Nova Extra Bold" panose="02060903020205020403" pitchFamily="18" charset="0"/>
            </a:endParaRPr>
          </a:p>
        </p:txBody>
      </p:sp>
      <p:sp>
        <p:nvSpPr>
          <p:cNvPr id="31" name="Rectangle 30">
            <a:extLst>
              <a:ext uri="{FF2B5EF4-FFF2-40B4-BE49-F238E27FC236}">
                <a16:creationId xmlns:a16="http://schemas.microsoft.com/office/drawing/2014/main" id="{6CA91ABF-8903-E0BE-FF59-0C7987DEC10E}"/>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2" name="Picture 31">
            <a:extLst>
              <a:ext uri="{FF2B5EF4-FFF2-40B4-BE49-F238E27FC236}">
                <a16:creationId xmlns:a16="http://schemas.microsoft.com/office/drawing/2014/main" id="{B0CAB7A4-8DCC-A9E6-FE86-CCC06D64FC01}"/>
              </a:ext>
            </a:extLst>
          </p:cNvPr>
          <p:cNvPicPr>
            <a:picLocks noChangeAspect="1"/>
          </p:cNvPicPr>
          <p:nvPr/>
        </p:nvPicPr>
        <p:blipFill>
          <a:blip r:embed="rId3"/>
          <a:stretch>
            <a:fillRect/>
          </a:stretch>
        </p:blipFill>
        <p:spPr>
          <a:xfrm>
            <a:off x="1187672" y="156882"/>
            <a:ext cx="9816352" cy="6544235"/>
          </a:xfrm>
          <a:prstGeom prst="rect">
            <a:avLst/>
          </a:prstGeom>
        </p:spPr>
      </p:pic>
    </p:spTree>
    <p:extLst>
      <p:ext uri="{BB962C8B-B14F-4D97-AF65-F5344CB8AC3E}">
        <p14:creationId xmlns:p14="http://schemas.microsoft.com/office/powerpoint/2010/main" val="992903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98086" y="521891"/>
            <a:ext cx="10795524" cy="328910"/>
          </a:xfrm>
          <a:prstGeom prst="rect">
            <a:avLst/>
          </a:prstGeom>
          <a:noFill/>
          <a:ln/>
        </p:spPr>
        <p:txBody>
          <a:bodyPr wrap="none" lIns="0" tIns="0" rIns="0" bIns="0" rtlCol="0" anchor="t"/>
          <a:lstStyle/>
          <a:p>
            <a:pPr marL="0" indent="0" algn="l">
              <a:lnSpc>
                <a:spcPct val="104000"/>
              </a:lnSpc>
              <a:buNone/>
            </a:pPr>
            <a:r>
              <a:rPr lang="en-US" sz="2800" dirty="0">
                <a:solidFill>
                  <a:srgbClr val="FFFFFF"/>
                </a:solidFill>
                <a:latin typeface="Rockwell Nova Extra Bold" panose="02060903020205020403" pitchFamily="18" charset="0"/>
                <a:ea typeface="Nunito SemiBold" pitchFamily="34" charset="-122"/>
                <a:cs typeface="Nunito SemiBold" pitchFamily="34" charset="-120"/>
              </a:rPr>
              <a:t>Tools &amp; Technologies</a:t>
            </a:r>
            <a:endParaRPr lang="en-US" sz="2800" dirty="0">
              <a:latin typeface="Rockwell Nova Extra Bold" panose="02060903020205020403" pitchFamily="18" charset="0"/>
            </a:endParaRPr>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1221284"/>
            <a:ext cx="10795524" cy="792857"/>
          </a:xfrm>
          <a:prstGeom prst="rect">
            <a:avLst/>
          </a:prstGeom>
        </p:spPr>
      </p:pic>
      <p:sp>
        <p:nvSpPr>
          <p:cNvPr id="5" name="Text 2"/>
          <p:cNvSpPr/>
          <p:nvPr/>
        </p:nvSpPr>
        <p:spPr>
          <a:xfrm>
            <a:off x="1229587" y="1345803"/>
            <a:ext cx="10139506" cy="164405"/>
          </a:xfrm>
          <a:prstGeom prst="rect">
            <a:avLst/>
          </a:prstGeom>
          <a:noFill/>
          <a:ln/>
        </p:spPr>
        <p:txBody>
          <a:bodyPr wrap="none" lIns="0" tIns="0" rIns="0" bIns="0" rtlCol="0" anchor="t"/>
          <a:lstStyle/>
          <a:p>
            <a:r>
              <a:rPr lang="en-US" b="1" dirty="0">
                <a:solidFill>
                  <a:srgbClr val="FFFFFF"/>
                </a:solidFill>
                <a:latin typeface="Nunito SemiBold" pitchFamily="34" charset="0"/>
                <a:ea typeface="Nunito SemiBold" pitchFamily="34" charset="-122"/>
                <a:cs typeface="Nunito SemiBold" pitchFamily="34" charset="-120"/>
              </a:rPr>
              <a:t>Frontend – HTML, CSS, JAVASCRIPT</a:t>
            </a:r>
            <a:endParaRPr lang="en-US" b="1"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98086" y="2085677"/>
            <a:ext cx="10795524" cy="792857"/>
          </a:xfrm>
          <a:prstGeom prst="rect">
            <a:avLst/>
          </a:prstGeom>
        </p:spPr>
      </p:pic>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8086" y="2950071"/>
            <a:ext cx="10795524" cy="792857"/>
          </a:xfrm>
          <a:prstGeom prst="rect">
            <a:avLst/>
          </a:prstGeom>
        </p:spPr>
      </p:pic>
      <p:sp>
        <p:nvSpPr>
          <p:cNvPr id="11" name="Text 6"/>
          <p:cNvSpPr/>
          <p:nvPr/>
        </p:nvSpPr>
        <p:spPr>
          <a:xfrm>
            <a:off x="1229587" y="3074591"/>
            <a:ext cx="10139506" cy="164405"/>
          </a:xfrm>
          <a:prstGeom prst="rect">
            <a:avLst/>
          </a:prstGeom>
          <a:noFill/>
          <a:ln/>
        </p:spPr>
        <p:txBody>
          <a:bodyPr wrap="none" lIns="0" tIns="0" rIns="0" bIns="0" rtlCol="0" anchor="t"/>
          <a:lstStyle/>
          <a:p>
            <a:pPr marL="0" indent="0" algn="l">
              <a:lnSpc>
                <a:spcPct val="104000"/>
              </a:lnSpc>
              <a:buNone/>
            </a:pPr>
            <a:endParaRPr lang="en-US" sz="100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086" y="3814465"/>
            <a:ext cx="10795524" cy="792857"/>
          </a:xfrm>
          <a:prstGeom prst="rect">
            <a:avLst/>
          </a:prstGeom>
        </p:spPr>
      </p:pic>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8086" y="4678859"/>
            <a:ext cx="10795524" cy="792857"/>
          </a:xfrm>
          <a:prstGeom prst="rect">
            <a:avLst/>
          </a:prstGeom>
        </p:spPr>
      </p:pic>
      <p:pic>
        <p:nvPicPr>
          <p:cNvPr id="19"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5543252"/>
            <a:ext cx="10795524" cy="792857"/>
          </a:xfrm>
          <a:prstGeom prst="rect">
            <a:avLst/>
          </a:prstGeom>
        </p:spPr>
      </p:pic>
      <p:sp>
        <p:nvSpPr>
          <p:cNvPr id="23" name="Rectangle 22">
            <a:extLst>
              <a:ext uri="{FF2B5EF4-FFF2-40B4-BE49-F238E27FC236}">
                <a16:creationId xmlns:a16="http://schemas.microsoft.com/office/drawing/2014/main" id="{5D51C458-DFC5-2A69-9915-FCF6C9C5D68C}"/>
              </a:ext>
            </a:extLst>
          </p:cNvPr>
          <p:cNvSpPr/>
          <p:nvPr/>
        </p:nvSpPr>
        <p:spPr>
          <a:xfrm>
            <a:off x="10884010" y="6460629"/>
            <a:ext cx="1219200" cy="316688"/>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8ED9EB52-04C0-45F0-91D9-7CB156B127AB}"/>
              </a:ext>
            </a:extLst>
          </p:cNvPr>
          <p:cNvSpPr txBox="1"/>
          <p:nvPr/>
        </p:nvSpPr>
        <p:spPr>
          <a:xfrm>
            <a:off x="1156447" y="1600018"/>
            <a:ext cx="10212646" cy="338554"/>
          </a:xfrm>
          <a:prstGeom prst="rect">
            <a:avLst/>
          </a:prstGeom>
          <a:noFill/>
        </p:spPr>
        <p:txBody>
          <a:bodyPr wrap="square">
            <a:spAutoFit/>
          </a:bodyPr>
          <a:lstStyle/>
          <a:p>
            <a:r>
              <a:rPr lang="en-IN" sz="1600" dirty="0">
                <a:solidFill>
                  <a:schemeClr val="bg1"/>
                </a:solidFill>
              </a:rPr>
              <a:t>Provides the user interface for viewing, navigating, and interacting with mission information</a:t>
            </a:r>
            <a:endParaRPr lang="en-US" sz="1600" dirty="0">
              <a:solidFill>
                <a:schemeClr val="bg1"/>
              </a:solidFill>
            </a:endParaRPr>
          </a:p>
        </p:txBody>
      </p:sp>
      <p:sp>
        <p:nvSpPr>
          <p:cNvPr id="27" name="TextBox 26">
            <a:extLst>
              <a:ext uri="{FF2B5EF4-FFF2-40B4-BE49-F238E27FC236}">
                <a16:creationId xmlns:a16="http://schemas.microsoft.com/office/drawing/2014/main" id="{014905F7-A0AB-A56F-4D63-73662E0AAA7F}"/>
              </a:ext>
            </a:extLst>
          </p:cNvPr>
          <p:cNvSpPr txBox="1"/>
          <p:nvPr/>
        </p:nvSpPr>
        <p:spPr>
          <a:xfrm>
            <a:off x="1156447" y="2138660"/>
            <a:ext cx="6096000" cy="369332"/>
          </a:xfrm>
          <a:prstGeom prst="rect">
            <a:avLst/>
          </a:prstGeom>
          <a:noFill/>
        </p:spPr>
        <p:txBody>
          <a:bodyPr wrap="square">
            <a:spAutoFit/>
          </a:bodyPr>
          <a:lstStyle/>
          <a:p>
            <a:r>
              <a:rPr lang="en-US" b="1" dirty="0">
                <a:solidFill>
                  <a:srgbClr val="FFFFFF"/>
                </a:solidFill>
                <a:latin typeface="Nunito SemiBold" pitchFamily="34" charset="0"/>
                <a:ea typeface="Nunito SemiBold" pitchFamily="34" charset="-122"/>
                <a:cs typeface="Nunito SemiBold" pitchFamily="34" charset="-120"/>
              </a:rPr>
              <a:t>Backend</a:t>
            </a:r>
            <a:r>
              <a:rPr lang="en-US" sz="1800" b="1" dirty="0">
                <a:solidFill>
                  <a:srgbClr val="FFFFFF"/>
                </a:solidFill>
                <a:latin typeface="Nunito SemiBold" pitchFamily="34" charset="0"/>
                <a:ea typeface="Nunito SemiBold" pitchFamily="34" charset="-122"/>
                <a:cs typeface="Nunito SemiBold" pitchFamily="34" charset="-120"/>
              </a:rPr>
              <a:t> – Node.js, Express.js</a:t>
            </a:r>
            <a:endParaRPr lang="en-US" sz="1800" b="1" dirty="0"/>
          </a:p>
        </p:txBody>
      </p:sp>
      <p:sp>
        <p:nvSpPr>
          <p:cNvPr id="29" name="TextBox 28">
            <a:extLst>
              <a:ext uri="{FF2B5EF4-FFF2-40B4-BE49-F238E27FC236}">
                <a16:creationId xmlns:a16="http://schemas.microsoft.com/office/drawing/2014/main" id="{CABEB877-3248-879A-2544-A9131A162377}"/>
              </a:ext>
            </a:extLst>
          </p:cNvPr>
          <p:cNvSpPr txBox="1"/>
          <p:nvPr/>
        </p:nvSpPr>
        <p:spPr>
          <a:xfrm>
            <a:off x="1156447" y="2463234"/>
            <a:ext cx="8321093" cy="338554"/>
          </a:xfrm>
          <a:prstGeom prst="rect">
            <a:avLst/>
          </a:prstGeom>
          <a:noFill/>
        </p:spPr>
        <p:txBody>
          <a:bodyPr wrap="square">
            <a:spAutoFit/>
          </a:bodyPr>
          <a:lstStyle/>
          <a:p>
            <a:r>
              <a:rPr lang="en-IN" sz="1600" dirty="0">
                <a:solidFill>
                  <a:schemeClr val="bg1"/>
                </a:solidFill>
              </a:rPr>
              <a:t>Handles API requests, application logic, and communication with the PostgreSQL database.</a:t>
            </a:r>
            <a:endParaRPr lang="en-US" sz="1600" dirty="0">
              <a:solidFill>
                <a:schemeClr val="bg1"/>
              </a:solidFill>
            </a:endParaRPr>
          </a:p>
        </p:txBody>
      </p:sp>
      <p:sp>
        <p:nvSpPr>
          <p:cNvPr id="31" name="TextBox 30">
            <a:extLst>
              <a:ext uri="{FF2B5EF4-FFF2-40B4-BE49-F238E27FC236}">
                <a16:creationId xmlns:a16="http://schemas.microsoft.com/office/drawing/2014/main" id="{FC5FBE24-85EC-8508-B7B0-66FB711F8EED}"/>
              </a:ext>
            </a:extLst>
          </p:cNvPr>
          <p:cNvSpPr txBox="1"/>
          <p:nvPr/>
        </p:nvSpPr>
        <p:spPr>
          <a:xfrm>
            <a:off x="1156447" y="3002163"/>
            <a:ext cx="6096000" cy="369332"/>
          </a:xfrm>
          <a:prstGeom prst="rect">
            <a:avLst/>
          </a:prstGeom>
          <a:noFill/>
        </p:spPr>
        <p:txBody>
          <a:bodyPr wrap="square">
            <a:spAutoFit/>
          </a:bodyPr>
          <a:lstStyle/>
          <a:p>
            <a:r>
              <a:rPr lang="en-US" b="1" dirty="0">
                <a:solidFill>
                  <a:srgbClr val="FFFFFF"/>
                </a:solidFill>
                <a:latin typeface="Nunito SemiBold" pitchFamily="34" charset="0"/>
                <a:ea typeface="Nunito SemiBold" pitchFamily="34" charset="-122"/>
                <a:cs typeface="Nunito SemiBold" pitchFamily="34" charset="-120"/>
              </a:rPr>
              <a:t>Database</a:t>
            </a:r>
            <a:r>
              <a:rPr lang="en-US" sz="1800" b="1" dirty="0">
                <a:solidFill>
                  <a:srgbClr val="FFFFFF"/>
                </a:solidFill>
                <a:latin typeface="Nunito SemiBold" pitchFamily="34" charset="0"/>
                <a:ea typeface="Nunito SemiBold" pitchFamily="34" charset="-122"/>
                <a:cs typeface="Nunito SemiBold" pitchFamily="34" charset="-120"/>
              </a:rPr>
              <a:t> – PostgreSQL</a:t>
            </a:r>
            <a:endParaRPr lang="en-US" sz="1800" b="1" dirty="0"/>
          </a:p>
        </p:txBody>
      </p:sp>
      <p:sp>
        <p:nvSpPr>
          <p:cNvPr id="33" name="TextBox 32">
            <a:extLst>
              <a:ext uri="{FF2B5EF4-FFF2-40B4-BE49-F238E27FC236}">
                <a16:creationId xmlns:a16="http://schemas.microsoft.com/office/drawing/2014/main" id="{6C95166E-469A-CDC7-A548-9431E462120C}"/>
              </a:ext>
            </a:extLst>
          </p:cNvPr>
          <p:cNvSpPr txBox="1"/>
          <p:nvPr/>
        </p:nvSpPr>
        <p:spPr>
          <a:xfrm>
            <a:off x="1156446" y="3324194"/>
            <a:ext cx="8321093" cy="338554"/>
          </a:xfrm>
          <a:prstGeom prst="rect">
            <a:avLst/>
          </a:prstGeom>
          <a:noFill/>
        </p:spPr>
        <p:txBody>
          <a:bodyPr wrap="square">
            <a:spAutoFit/>
          </a:bodyPr>
          <a:lstStyle/>
          <a:p>
            <a:r>
              <a:rPr lang="en-IN" sz="1600" dirty="0">
                <a:solidFill>
                  <a:schemeClr val="bg1"/>
                </a:solidFill>
              </a:rPr>
              <a:t>Stores and manages structured mission information using PostgreSQL</a:t>
            </a:r>
            <a:endParaRPr lang="en-US" sz="1600" dirty="0">
              <a:solidFill>
                <a:schemeClr val="bg1"/>
              </a:solidFill>
            </a:endParaRPr>
          </a:p>
        </p:txBody>
      </p:sp>
      <p:sp>
        <p:nvSpPr>
          <p:cNvPr id="35" name="TextBox 34">
            <a:extLst>
              <a:ext uri="{FF2B5EF4-FFF2-40B4-BE49-F238E27FC236}">
                <a16:creationId xmlns:a16="http://schemas.microsoft.com/office/drawing/2014/main" id="{FFBC3148-AD03-3769-65FB-A813194F5087}"/>
              </a:ext>
            </a:extLst>
          </p:cNvPr>
          <p:cNvSpPr txBox="1"/>
          <p:nvPr/>
        </p:nvSpPr>
        <p:spPr>
          <a:xfrm>
            <a:off x="1156447" y="3867447"/>
            <a:ext cx="6096000" cy="369332"/>
          </a:xfrm>
          <a:prstGeom prst="rect">
            <a:avLst/>
          </a:prstGeom>
          <a:noFill/>
        </p:spPr>
        <p:txBody>
          <a:bodyPr wrap="square">
            <a:spAutoFit/>
          </a:bodyPr>
          <a:lstStyle/>
          <a:p>
            <a:r>
              <a:rPr lang="en-US" b="1" dirty="0">
                <a:solidFill>
                  <a:srgbClr val="FFFFFF"/>
                </a:solidFill>
                <a:latin typeface="Nunito SemiBold" pitchFamily="34" charset="0"/>
                <a:ea typeface="Nunito SemiBold" pitchFamily="34" charset="-122"/>
                <a:cs typeface="Nunito SemiBold" pitchFamily="34" charset="-120"/>
              </a:rPr>
              <a:t>Mapping</a:t>
            </a:r>
            <a:r>
              <a:rPr lang="en-US" sz="1800" b="1" dirty="0">
                <a:solidFill>
                  <a:srgbClr val="FFFFFF"/>
                </a:solidFill>
                <a:latin typeface="Nunito SemiBold" pitchFamily="34" charset="0"/>
                <a:ea typeface="Nunito SemiBold" pitchFamily="34" charset="-122"/>
                <a:cs typeface="Nunito SemiBold" pitchFamily="34" charset="-120"/>
              </a:rPr>
              <a:t> – </a:t>
            </a:r>
            <a:r>
              <a:rPr lang="en-US" b="1" dirty="0" err="1">
                <a:solidFill>
                  <a:srgbClr val="FFFFFF"/>
                </a:solidFill>
                <a:latin typeface="Nunito SemiBold" pitchFamily="34" charset="0"/>
                <a:ea typeface="Nunito SemiBold" pitchFamily="34" charset="-122"/>
                <a:cs typeface="Nunito SemiBold" pitchFamily="34" charset="-120"/>
              </a:rPr>
              <a:t>OpenLayers</a:t>
            </a:r>
            <a:endParaRPr lang="en-US" sz="1800" b="1" dirty="0"/>
          </a:p>
        </p:txBody>
      </p:sp>
      <p:sp>
        <p:nvSpPr>
          <p:cNvPr id="37" name="TextBox 36">
            <a:extLst>
              <a:ext uri="{FF2B5EF4-FFF2-40B4-BE49-F238E27FC236}">
                <a16:creationId xmlns:a16="http://schemas.microsoft.com/office/drawing/2014/main" id="{F461E31F-67A7-BD84-D249-266017090140}"/>
              </a:ext>
            </a:extLst>
          </p:cNvPr>
          <p:cNvSpPr txBox="1"/>
          <p:nvPr/>
        </p:nvSpPr>
        <p:spPr>
          <a:xfrm>
            <a:off x="1156446" y="4209557"/>
            <a:ext cx="9663953" cy="338554"/>
          </a:xfrm>
          <a:prstGeom prst="rect">
            <a:avLst/>
          </a:prstGeom>
          <a:noFill/>
        </p:spPr>
        <p:txBody>
          <a:bodyPr wrap="square">
            <a:spAutoFit/>
          </a:bodyPr>
          <a:lstStyle/>
          <a:p>
            <a:r>
              <a:rPr lang="en-IN" sz="1600" dirty="0">
                <a:solidFill>
                  <a:schemeClr val="bg1"/>
                </a:solidFill>
              </a:rPr>
              <a:t>Displays interactive geographic information using </a:t>
            </a:r>
            <a:r>
              <a:rPr lang="en-IN" sz="1600" dirty="0" err="1">
                <a:solidFill>
                  <a:schemeClr val="bg1"/>
                </a:solidFill>
              </a:rPr>
              <a:t>OpenLayers</a:t>
            </a:r>
            <a:r>
              <a:rPr lang="en-IN" sz="1600" dirty="0">
                <a:solidFill>
                  <a:schemeClr val="bg1"/>
                </a:solidFill>
              </a:rPr>
              <a:t> and map layers provided through </a:t>
            </a:r>
            <a:r>
              <a:rPr lang="en-IN" sz="1600" dirty="0" err="1">
                <a:solidFill>
                  <a:schemeClr val="bg1"/>
                </a:solidFill>
              </a:rPr>
              <a:t>GeoServer</a:t>
            </a:r>
            <a:endParaRPr lang="en-US" sz="1600" dirty="0">
              <a:solidFill>
                <a:schemeClr val="bg1"/>
              </a:solidFill>
            </a:endParaRPr>
          </a:p>
        </p:txBody>
      </p:sp>
      <p:sp>
        <p:nvSpPr>
          <p:cNvPr id="39" name="TextBox 38">
            <a:extLst>
              <a:ext uri="{FF2B5EF4-FFF2-40B4-BE49-F238E27FC236}">
                <a16:creationId xmlns:a16="http://schemas.microsoft.com/office/drawing/2014/main" id="{F4D88AA5-3608-4A3B-BC35-4434D87BCE67}"/>
              </a:ext>
            </a:extLst>
          </p:cNvPr>
          <p:cNvSpPr txBox="1"/>
          <p:nvPr/>
        </p:nvSpPr>
        <p:spPr>
          <a:xfrm>
            <a:off x="1156447" y="4758537"/>
            <a:ext cx="6096000" cy="369332"/>
          </a:xfrm>
          <a:prstGeom prst="rect">
            <a:avLst/>
          </a:prstGeom>
          <a:noFill/>
        </p:spPr>
        <p:txBody>
          <a:bodyPr wrap="square">
            <a:spAutoFit/>
          </a:bodyPr>
          <a:lstStyle/>
          <a:p>
            <a:r>
              <a:rPr lang="en-US" b="1" dirty="0">
                <a:solidFill>
                  <a:srgbClr val="FFFFFF"/>
                </a:solidFill>
                <a:latin typeface="Nunito SemiBold" pitchFamily="34" charset="0"/>
                <a:ea typeface="Nunito SemiBold" pitchFamily="34" charset="-122"/>
                <a:cs typeface="Nunito SemiBold" pitchFamily="34" charset="-120"/>
              </a:rPr>
              <a:t>Communication</a:t>
            </a:r>
            <a:r>
              <a:rPr lang="en-US" sz="1800" b="1" dirty="0">
                <a:solidFill>
                  <a:srgbClr val="FFFFFF"/>
                </a:solidFill>
                <a:latin typeface="Nunito SemiBold" pitchFamily="34" charset="0"/>
                <a:ea typeface="Nunito SemiBold" pitchFamily="34" charset="-122"/>
                <a:cs typeface="Nunito SemiBold" pitchFamily="34" charset="-120"/>
              </a:rPr>
              <a:t> – Rest API – HTTP – JSON</a:t>
            </a:r>
          </a:p>
        </p:txBody>
      </p:sp>
      <p:sp>
        <p:nvSpPr>
          <p:cNvPr id="41" name="TextBox 40">
            <a:extLst>
              <a:ext uri="{FF2B5EF4-FFF2-40B4-BE49-F238E27FC236}">
                <a16:creationId xmlns:a16="http://schemas.microsoft.com/office/drawing/2014/main" id="{75B4BC86-26E6-6295-1D5E-C4B2F205C169}"/>
              </a:ext>
            </a:extLst>
          </p:cNvPr>
          <p:cNvSpPr txBox="1"/>
          <p:nvPr/>
        </p:nvSpPr>
        <p:spPr>
          <a:xfrm>
            <a:off x="1156445" y="5070380"/>
            <a:ext cx="9663953" cy="338554"/>
          </a:xfrm>
          <a:prstGeom prst="rect">
            <a:avLst/>
          </a:prstGeom>
          <a:noFill/>
        </p:spPr>
        <p:txBody>
          <a:bodyPr wrap="square">
            <a:spAutoFit/>
          </a:bodyPr>
          <a:lstStyle/>
          <a:p>
            <a:r>
              <a:rPr lang="en-IN" sz="1600" dirty="0">
                <a:solidFill>
                  <a:schemeClr val="bg1"/>
                </a:solidFill>
              </a:rPr>
              <a:t>Enables data exchange between the frontend and backend through REST APIs and JSON.</a:t>
            </a:r>
            <a:endParaRPr lang="en-US" sz="1600" dirty="0">
              <a:solidFill>
                <a:schemeClr val="bg1"/>
              </a:solidFill>
            </a:endParaRPr>
          </a:p>
        </p:txBody>
      </p:sp>
      <p:sp>
        <p:nvSpPr>
          <p:cNvPr id="45" name="TextBox 44">
            <a:extLst>
              <a:ext uri="{FF2B5EF4-FFF2-40B4-BE49-F238E27FC236}">
                <a16:creationId xmlns:a16="http://schemas.microsoft.com/office/drawing/2014/main" id="{6B55DD07-ED16-BF99-A8A5-B55B389E611D}"/>
              </a:ext>
            </a:extLst>
          </p:cNvPr>
          <p:cNvSpPr txBox="1"/>
          <p:nvPr/>
        </p:nvSpPr>
        <p:spPr>
          <a:xfrm>
            <a:off x="1229587" y="5636716"/>
            <a:ext cx="6096000" cy="369332"/>
          </a:xfrm>
          <a:prstGeom prst="rect">
            <a:avLst/>
          </a:prstGeom>
          <a:noFill/>
        </p:spPr>
        <p:txBody>
          <a:bodyPr wrap="square">
            <a:spAutoFit/>
          </a:bodyPr>
          <a:lstStyle/>
          <a:p>
            <a:r>
              <a:rPr lang="en-US" sz="1800" b="1" dirty="0">
                <a:solidFill>
                  <a:srgbClr val="FFFFFF"/>
                </a:solidFill>
                <a:latin typeface="Nunito SemiBold" pitchFamily="34" charset="0"/>
                <a:ea typeface="Nunito SemiBold" pitchFamily="34" charset="-122"/>
                <a:cs typeface="Nunito SemiBold" pitchFamily="34" charset="-120"/>
              </a:rPr>
              <a:t>Export - CSV</a:t>
            </a:r>
          </a:p>
        </p:txBody>
      </p:sp>
      <p:sp>
        <p:nvSpPr>
          <p:cNvPr id="47" name="TextBox 46">
            <a:extLst>
              <a:ext uri="{FF2B5EF4-FFF2-40B4-BE49-F238E27FC236}">
                <a16:creationId xmlns:a16="http://schemas.microsoft.com/office/drawing/2014/main" id="{FB2FDD6C-BF4C-8783-C94C-39D7E1DFBDB4}"/>
              </a:ext>
            </a:extLst>
          </p:cNvPr>
          <p:cNvSpPr txBox="1"/>
          <p:nvPr/>
        </p:nvSpPr>
        <p:spPr>
          <a:xfrm>
            <a:off x="1229586" y="5939680"/>
            <a:ext cx="9654423" cy="338554"/>
          </a:xfrm>
          <a:prstGeom prst="rect">
            <a:avLst/>
          </a:prstGeom>
          <a:noFill/>
        </p:spPr>
        <p:txBody>
          <a:bodyPr wrap="square">
            <a:spAutoFit/>
          </a:bodyPr>
          <a:lstStyle/>
          <a:p>
            <a:r>
              <a:rPr lang="en-IN" sz="1600" dirty="0">
                <a:solidFill>
                  <a:schemeClr val="bg1"/>
                </a:solidFill>
              </a:rPr>
              <a:t>Allows mission information to be exported as a structured CSV file for external use and record keeping.</a:t>
            </a:r>
            <a:endParaRPr lang="en-US" sz="16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4940C0C9-D4AE-1132-D789-DE2575E37123}"/>
              </a:ext>
            </a:extLst>
          </p:cNvPr>
          <p:cNvSpPr/>
          <p:nvPr/>
        </p:nvSpPr>
        <p:spPr>
          <a:xfrm>
            <a:off x="10884010" y="6303086"/>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5" name="Text 0">
            <a:extLst>
              <a:ext uri="{FF2B5EF4-FFF2-40B4-BE49-F238E27FC236}">
                <a16:creationId xmlns:a16="http://schemas.microsoft.com/office/drawing/2014/main" id="{A4B1641E-443B-6BC3-0E86-37F6AF5B782A}"/>
              </a:ext>
            </a:extLst>
          </p:cNvPr>
          <p:cNvSpPr/>
          <p:nvPr/>
        </p:nvSpPr>
        <p:spPr>
          <a:xfrm>
            <a:off x="698086" y="521891"/>
            <a:ext cx="10795524" cy="328910"/>
          </a:xfrm>
          <a:prstGeom prst="rect">
            <a:avLst/>
          </a:prstGeom>
          <a:noFill/>
          <a:ln/>
        </p:spPr>
        <p:txBody>
          <a:bodyPr wrap="none" lIns="0" tIns="0" rIns="0" bIns="0" rtlCol="0" anchor="t"/>
          <a:lstStyle/>
          <a:p>
            <a:pPr marL="0" indent="0" algn="l">
              <a:lnSpc>
                <a:spcPct val="104000"/>
              </a:lnSpc>
              <a:buNone/>
            </a:pPr>
            <a:r>
              <a:rPr lang="en-US" sz="2800" dirty="0">
                <a:solidFill>
                  <a:srgbClr val="FFFFFF"/>
                </a:solidFill>
                <a:latin typeface="Rockwell Nova Extra Bold" panose="02060903020205020403" pitchFamily="18" charset="0"/>
                <a:ea typeface="Nunito SemiBold" pitchFamily="34" charset="-122"/>
                <a:cs typeface="Nunito SemiBold" pitchFamily="34" charset="-120"/>
              </a:rPr>
              <a:t>Backend: Node.js – Express.js</a:t>
            </a:r>
            <a:endParaRPr lang="en-US" sz="2800" dirty="0">
              <a:latin typeface="Rockwell Nova Extra Bold" panose="02060903020205020403" pitchFamily="18" charset="0"/>
            </a:endParaRPr>
          </a:p>
        </p:txBody>
      </p:sp>
      <p:sp>
        <p:nvSpPr>
          <p:cNvPr id="37" name="Text 1">
            <a:extLst>
              <a:ext uri="{FF2B5EF4-FFF2-40B4-BE49-F238E27FC236}">
                <a16:creationId xmlns:a16="http://schemas.microsoft.com/office/drawing/2014/main" id="{83F4C3CF-BC11-154F-FC44-47F3EB218D82}"/>
              </a:ext>
            </a:extLst>
          </p:cNvPr>
          <p:cNvSpPr/>
          <p:nvPr/>
        </p:nvSpPr>
        <p:spPr>
          <a:xfrm>
            <a:off x="698086" y="1140718"/>
            <a:ext cx="10795524" cy="558403"/>
          </a:xfrm>
          <a:prstGeom prst="rect">
            <a:avLst/>
          </a:prstGeom>
          <a:noFill/>
          <a:ln/>
        </p:spPr>
        <p:txBody>
          <a:bodyPr wrap="square" lIns="0" tIns="0" rIns="0" bIns="0" rtlCol="0" anchor="t">
            <a:normAutofit/>
          </a:bodyPr>
          <a:lstStyle/>
          <a:p>
            <a:r>
              <a:rPr lang="en-IN" sz="1400" dirty="0">
                <a:solidFill>
                  <a:schemeClr val="bg1"/>
                </a:solidFill>
              </a:rPr>
              <a:t>The backend layer is responsible for all server-side execution, business logic, and database communication. Node.js and Express.js together form a lightweight yet capable API server.</a:t>
            </a:r>
            <a:endParaRPr lang="en-US" sz="1350" dirty="0">
              <a:solidFill>
                <a:schemeClr val="bg1"/>
              </a:solidFill>
            </a:endParaRPr>
          </a:p>
        </p:txBody>
      </p:sp>
      <p:sp>
        <p:nvSpPr>
          <p:cNvPr id="39" name="Shape 2">
            <a:extLst>
              <a:ext uri="{FF2B5EF4-FFF2-40B4-BE49-F238E27FC236}">
                <a16:creationId xmlns:a16="http://schemas.microsoft.com/office/drawing/2014/main" id="{2D2AA025-870B-6154-DEE9-478B4F02D1FE}"/>
              </a:ext>
            </a:extLst>
          </p:cNvPr>
          <p:cNvSpPr/>
          <p:nvPr/>
        </p:nvSpPr>
        <p:spPr>
          <a:xfrm>
            <a:off x="806319" y="1965267"/>
            <a:ext cx="4314419" cy="3306978"/>
          </a:xfrm>
          <a:prstGeom prst="roundRect">
            <a:avLst>
              <a:gd name="adj" fmla="val 8951"/>
            </a:avLst>
          </a:prstGeom>
          <a:solidFill>
            <a:srgbClr val="2D2E34">
              <a:alpha val="75000"/>
            </a:srgbClr>
          </a:solidFill>
          <a:ln/>
        </p:spPr>
        <p:txBody>
          <a:bodyPr/>
          <a:lstStyle/>
          <a:p>
            <a:r>
              <a:rPr lang="en-IN" dirty="0">
                <a:solidFill>
                  <a:schemeClr val="bg1"/>
                </a:solidFill>
              </a:rPr>
              <a:t>Node.js – Server Runtime</a:t>
            </a:r>
          </a:p>
          <a:p>
            <a:endParaRPr lang="en-IN" dirty="0"/>
          </a:p>
          <a:p>
            <a:pPr marL="285750" lvl="0" indent="-285750">
              <a:buFont typeface="Arial" panose="020B0604020202020204" pitchFamily="34" charset="0"/>
              <a:buChar char="•"/>
            </a:pPr>
            <a:r>
              <a:rPr lang="en-IN" dirty="0">
                <a:solidFill>
                  <a:schemeClr val="bg1"/>
                </a:solidFill>
              </a:rPr>
              <a:t>JavaScript runtime for server-side execution outside the browser </a:t>
            </a:r>
          </a:p>
          <a:p>
            <a:pPr lvl="0"/>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Executes application logic and enforces business rules </a:t>
            </a:r>
          </a:p>
          <a:p>
            <a:pPr lvl="0"/>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Manages all database communication with PostgreSQL</a:t>
            </a:r>
          </a:p>
          <a:p>
            <a:endParaRPr lang="en-IN" dirty="0"/>
          </a:p>
        </p:txBody>
      </p:sp>
      <p:sp>
        <p:nvSpPr>
          <p:cNvPr id="41" name="Shape 2">
            <a:extLst>
              <a:ext uri="{FF2B5EF4-FFF2-40B4-BE49-F238E27FC236}">
                <a16:creationId xmlns:a16="http://schemas.microsoft.com/office/drawing/2014/main" id="{0A991E5B-D715-AF0D-AC0E-7EA278D09BA2}"/>
              </a:ext>
            </a:extLst>
          </p:cNvPr>
          <p:cNvSpPr/>
          <p:nvPr/>
        </p:nvSpPr>
        <p:spPr>
          <a:xfrm>
            <a:off x="7071262" y="1965266"/>
            <a:ext cx="4314419" cy="3306979"/>
          </a:xfrm>
          <a:prstGeom prst="roundRect">
            <a:avLst>
              <a:gd name="adj" fmla="val 8951"/>
            </a:avLst>
          </a:prstGeom>
          <a:solidFill>
            <a:srgbClr val="2D2E34">
              <a:alpha val="75000"/>
            </a:srgbClr>
          </a:solidFill>
          <a:ln/>
        </p:spPr>
        <p:txBody>
          <a:bodyPr/>
          <a:lstStyle/>
          <a:p>
            <a:r>
              <a:rPr lang="en-IN" dirty="0">
                <a:solidFill>
                  <a:schemeClr val="bg1"/>
                </a:solidFill>
              </a:rPr>
              <a:t>Express.js — Web Framework</a:t>
            </a:r>
          </a:p>
          <a:p>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Lightweight web framework built on top of Node.js </a:t>
            </a:r>
          </a:p>
          <a:p>
            <a:pPr lvl="0"/>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Creates and manages all REST API routes </a:t>
            </a:r>
          </a:p>
          <a:p>
            <a:pPr lvl="0"/>
            <a:endParaRPr lang="en-IN" dirty="0">
              <a:solidFill>
                <a:schemeClr val="bg1"/>
              </a:solidFill>
            </a:endParaRPr>
          </a:p>
          <a:p>
            <a:pPr marL="285750" lvl="0" indent="-285750">
              <a:buFont typeface="Arial" panose="020B0604020202020204" pitchFamily="34" charset="0"/>
              <a:buChar char="•"/>
            </a:pPr>
            <a:r>
              <a:rPr lang="en-IN" dirty="0">
                <a:solidFill>
                  <a:schemeClr val="bg1"/>
                </a:solidFill>
              </a:rPr>
              <a:t>Handles incoming HTTP requests and outgoing responses </a:t>
            </a:r>
          </a:p>
        </p:txBody>
      </p:sp>
      <p:sp>
        <p:nvSpPr>
          <p:cNvPr id="44" name="Text 1">
            <a:extLst>
              <a:ext uri="{FF2B5EF4-FFF2-40B4-BE49-F238E27FC236}">
                <a16:creationId xmlns:a16="http://schemas.microsoft.com/office/drawing/2014/main" id="{DAA10254-831E-5680-C27C-28A89D28FF63}"/>
              </a:ext>
            </a:extLst>
          </p:cNvPr>
          <p:cNvSpPr/>
          <p:nvPr/>
        </p:nvSpPr>
        <p:spPr>
          <a:xfrm>
            <a:off x="698086" y="5555283"/>
            <a:ext cx="10795524" cy="558403"/>
          </a:xfrm>
          <a:prstGeom prst="rect">
            <a:avLst/>
          </a:prstGeom>
          <a:noFill/>
          <a:ln/>
        </p:spPr>
        <p:txBody>
          <a:bodyPr wrap="square" lIns="0" tIns="0" rIns="0" bIns="0" rtlCol="0" anchor="t">
            <a:normAutofit fontScale="92500"/>
          </a:bodyPr>
          <a:lstStyle/>
          <a:p>
            <a:r>
              <a:rPr lang="en-IN" sz="1400" dirty="0">
                <a:solidFill>
                  <a:schemeClr val="bg1"/>
                </a:solidFill>
              </a:rPr>
              <a:t>Together, Node.js and Express.js form the core backend layer of the dashboard, enabling communication between the frontend and PostgreSQL database. They handle API requests, process application logic, retrieve or update mission data, and return the required responses to the frontend for dynamic display.</a:t>
            </a:r>
            <a:endParaRPr lang="en-US" sz="1350"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98086" y="528241"/>
            <a:ext cx="10795524" cy="513259"/>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Core Concepts</a:t>
            </a:r>
            <a:endParaRPr lang="en-US" sz="3200" dirty="0">
              <a:latin typeface="Rockwell Nova Extra Bold" panose="02060903020205020403" pitchFamily="18" charset="0"/>
            </a:endParaRPr>
          </a:p>
        </p:txBody>
      </p:sp>
      <p:sp>
        <p:nvSpPr>
          <p:cNvPr id="3" name="Text 1"/>
          <p:cNvSpPr/>
          <p:nvPr/>
        </p:nvSpPr>
        <p:spPr>
          <a:xfrm>
            <a:off x="698086" y="1390551"/>
            <a:ext cx="11405108"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Five foundational software engineering principles underpin the architecture and implementation of the Mission Debriefing Dashboard.</a:t>
            </a:r>
            <a:endParaRPr lang="en-US" sz="135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1866106"/>
            <a:ext cx="3482094" cy="2144514"/>
          </a:xfrm>
          <a:prstGeom prst="rect">
            <a:avLst/>
          </a:prstGeom>
        </p:spPr>
      </p:pic>
      <p:sp>
        <p:nvSpPr>
          <p:cNvPr id="5" name="Text 2"/>
          <p:cNvSpPr/>
          <p:nvPr/>
        </p:nvSpPr>
        <p:spPr>
          <a:xfrm>
            <a:off x="967855" y="2059682"/>
            <a:ext cx="3018754"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Client–Server Architecture</a:t>
            </a:r>
            <a:endParaRPr lang="en-US" sz="1600" dirty="0"/>
          </a:p>
        </p:txBody>
      </p:sp>
      <p:sp>
        <p:nvSpPr>
          <p:cNvPr id="6" name="Text 3"/>
          <p:cNvSpPr/>
          <p:nvPr/>
        </p:nvSpPr>
        <p:spPr>
          <a:xfrm>
            <a:off x="967855" y="2421037"/>
            <a:ext cx="3018754" cy="1396008"/>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Separation of frontend, backend, and database responsibilities ensures scalability, maintainability, and clear boundaries of concern across the application.</a:t>
            </a:r>
            <a:endParaRPr lang="en-US" sz="1350" dirty="0"/>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54701" y="1866106"/>
            <a:ext cx="3482193" cy="2144514"/>
          </a:xfrm>
          <a:prstGeom prst="rect">
            <a:avLst/>
          </a:prstGeom>
        </p:spPr>
      </p:pic>
      <p:sp>
        <p:nvSpPr>
          <p:cNvPr id="8" name="Text 4"/>
          <p:cNvSpPr/>
          <p:nvPr/>
        </p:nvSpPr>
        <p:spPr>
          <a:xfrm>
            <a:off x="4624470" y="2059682"/>
            <a:ext cx="3018853"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API Communication</a:t>
            </a:r>
            <a:endParaRPr lang="en-US" sz="1600" dirty="0"/>
          </a:p>
        </p:txBody>
      </p:sp>
      <p:sp>
        <p:nvSpPr>
          <p:cNvPr id="9" name="Text 5"/>
          <p:cNvSpPr/>
          <p:nvPr/>
        </p:nvSpPr>
        <p:spPr>
          <a:xfrm>
            <a:off x="4624470" y="2421037"/>
            <a:ext cx="3018853" cy="1116806"/>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The frontend communicates exclusively with the backend through structured HTTP requests, receiving well-defined responses that decouple the two layers.</a:t>
            </a:r>
            <a:endParaRPr lang="en-US" sz="13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1416" y="1866106"/>
            <a:ext cx="3482193" cy="2144514"/>
          </a:xfrm>
          <a:prstGeom prst="rect">
            <a:avLst/>
          </a:prstGeom>
        </p:spPr>
      </p:pic>
      <p:sp>
        <p:nvSpPr>
          <p:cNvPr id="11" name="Text 6"/>
          <p:cNvSpPr/>
          <p:nvPr/>
        </p:nvSpPr>
        <p:spPr>
          <a:xfrm>
            <a:off x="8281185" y="2059682"/>
            <a:ext cx="3018853"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JSON Data Format</a:t>
            </a:r>
            <a:endParaRPr lang="en-US" sz="1600" dirty="0"/>
          </a:p>
        </p:txBody>
      </p:sp>
      <p:sp>
        <p:nvSpPr>
          <p:cNvPr id="12" name="Text 7"/>
          <p:cNvSpPr/>
          <p:nvPr/>
        </p:nvSpPr>
        <p:spPr>
          <a:xfrm>
            <a:off x="8281185" y="2421037"/>
            <a:ext cx="3018853" cy="1396008"/>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A structured, lightweight format for transferring mission data between frontend and backend, enabling consistent parsing and rendering across all dashboard components.</a:t>
            </a:r>
            <a:endParaRPr lang="en-US" sz="1350" dirty="0"/>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086" y="4185146"/>
            <a:ext cx="3482094" cy="2144514"/>
          </a:xfrm>
          <a:prstGeom prst="rect">
            <a:avLst/>
          </a:prstGeom>
        </p:spPr>
      </p:pic>
      <p:sp>
        <p:nvSpPr>
          <p:cNvPr id="14" name="Text 8"/>
          <p:cNvSpPr/>
          <p:nvPr/>
        </p:nvSpPr>
        <p:spPr>
          <a:xfrm>
            <a:off x="967855" y="4378722"/>
            <a:ext cx="3018754"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Dynamic UI Updates</a:t>
            </a:r>
            <a:endParaRPr lang="en-US" sz="1600" dirty="0"/>
          </a:p>
        </p:txBody>
      </p:sp>
      <p:sp>
        <p:nvSpPr>
          <p:cNvPr id="15" name="Text 9"/>
          <p:cNvSpPr/>
          <p:nvPr/>
        </p:nvSpPr>
        <p:spPr>
          <a:xfrm>
            <a:off x="967855" y="4740077"/>
            <a:ext cx="3018754" cy="1116806"/>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JavaScript processes API responses and updates dashboard elements in real-time without full page reloads, providing a responsive user experience.</a:t>
            </a:r>
            <a:endParaRPr lang="en-US" sz="135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54701" y="4185146"/>
            <a:ext cx="3482193" cy="2144514"/>
          </a:xfrm>
          <a:prstGeom prst="rect">
            <a:avLst/>
          </a:prstGeom>
        </p:spPr>
      </p:pic>
      <p:sp>
        <p:nvSpPr>
          <p:cNvPr id="17" name="Text 10"/>
          <p:cNvSpPr/>
          <p:nvPr/>
        </p:nvSpPr>
        <p:spPr>
          <a:xfrm>
            <a:off x="4624470" y="4378722"/>
            <a:ext cx="3018853"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Database Operations</a:t>
            </a:r>
            <a:endParaRPr lang="en-US" sz="1600" dirty="0"/>
          </a:p>
        </p:txBody>
      </p:sp>
      <p:sp>
        <p:nvSpPr>
          <p:cNvPr id="18" name="Text 11"/>
          <p:cNvSpPr/>
          <p:nvPr/>
        </p:nvSpPr>
        <p:spPr>
          <a:xfrm>
            <a:off x="4624470" y="4740077"/>
            <a:ext cx="3018853" cy="1396008"/>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PostgreSQL stores all mission data; backend APIs handle retrieval, filtering, and update operations through parameterized queries and connection pooling.</a:t>
            </a:r>
            <a:endParaRPr lang="en-US" sz="1350" dirty="0"/>
          </a:p>
        </p:txBody>
      </p:sp>
      <p:sp>
        <p:nvSpPr>
          <p:cNvPr id="20" name="Rectangle 19">
            <a:extLst>
              <a:ext uri="{FF2B5EF4-FFF2-40B4-BE49-F238E27FC236}">
                <a16:creationId xmlns:a16="http://schemas.microsoft.com/office/drawing/2014/main" id="{22247FA7-7109-89AC-2E1F-65A12EBAFC65}"/>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8086" y="523875"/>
            <a:ext cx="10795524" cy="473273"/>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Final Dashboard</a:t>
            </a:r>
            <a:endParaRPr lang="en-US" sz="3200" dirty="0">
              <a:latin typeface="Rockwell Nova Extra Bold" panose="02060903020205020403" pitchFamily="18" charset="0"/>
            </a:endParaRPr>
          </a:p>
        </p:txBody>
      </p:sp>
      <p:sp>
        <p:nvSpPr>
          <p:cNvPr id="3" name="Text 1"/>
          <p:cNvSpPr/>
          <p:nvPr/>
        </p:nvSpPr>
        <p:spPr>
          <a:xfrm>
            <a:off x="698086" y="1293813"/>
            <a:ext cx="10795524" cy="494705"/>
          </a:xfrm>
          <a:prstGeom prst="rect">
            <a:avLst/>
          </a:prstGeom>
          <a:noFill/>
          <a:ln/>
        </p:spPr>
        <p:txBody>
          <a:bodyPr wrap="square" lIns="0" tIns="0" rIns="0" bIns="0" rtlCol="0" anchor="t">
            <a:normAutofit/>
          </a:bodyPr>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The completed Mission Debriefing Dashboard integrates all five functional layers into a unified, user-facing interface. The placeholder below represents the final application screenshot.</a:t>
            </a:r>
            <a:endParaRPr lang="en-US" sz="1250" dirty="0"/>
          </a:p>
        </p:txBody>
      </p:sp>
      <p:sp>
        <p:nvSpPr>
          <p:cNvPr id="4" name="Shape 2"/>
          <p:cNvSpPr/>
          <p:nvPr/>
        </p:nvSpPr>
        <p:spPr>
          <a:xfrm>
            <a:off x="582201" y="1955304"/>
            <a:ext cx="4314419" cy="4378722"/>
          </a:xfrm>
          <a:prstGeom prst="roundRect">
            <a:avLst>
              <a:gd name="adj" fmla="val 8951"/>
            </a:avLst>
          </a:prstGeom>
          <a:solidFill>
            <a:srgbClr val="2D2E34">
              <a:alpha val="75000"/>
            </a:srgbClr>
          </a:solidFill>
          <a:ln/>
        </p:spPr>
      </p:sp>
      <p:sp>
        <p:nvSpPr>
          <p:cNvPr id="5" name="Text 3"/>
          <p:cNvSpPr/>
          <p:nvPr/>
        </p:nvSpPr>
        <p:spPr>
          <a:xfrm>
            <a:off x="743031" y="2103636"/>
            <a:ext cx="3992760" cy="236637"/>
          </a:xfrm>
          <a:prstGeom prst="rect">
            <a:avLst/>
          </a:prstGeom>
          <a:noFill/>
          <a:ln/>
        </p:spPr>
        <p:txBody>
          <a:bodyPr wrap="none" lIns="0" tIns="0" rIns="0" bIns="0" rtlCol="0" anchor="t"/>
          <a:lstStyle/>
          <a:p>
            <a:pPr marL="0" indent="0" algn="l">
              <a:lnSpc>
                <a:spcPct val="104000"/>
              </a:lnSpc>
              <a:buNone/>
            </a:pPr>
            <a:r>
              <a:rPr lang="en-US" sz="1450" dirty="0">
                <a:solidFill>
                  <a:srgbClr val="FFFFFF"/>
                </a:solidFill>
                <a:latin typeface="Nunito SemiBold" pitchFamily="34" charset="0"/>
                <a:ea typeface="Nunito SemiBold" pitchFamily="34" charset="-122"/>
                <a:cs typeface="Nunito SemiBold" pitchFamily="34" charset="-120"/>
              </a:rPr>
              <a:t>Delivered Features</a:t>
            </a:r>
            <a:endParaRPr lang="en-US" sz="14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54" y="2515046"/>
            <a:ext cx="241294" cy="241300"/>
          </a:xfrm>
          <a:prstGeom prst="rect">
            <a:avLst/>
          </a:prstGeom>
        </p:spPr>
      </p:pic>
      <p:sp>
        <p:nvSpPr>
          <p:cNvPr id="7" name="Text 4"/>
          <p:cNvSpPr/>
          <p:nvPr/>
        </p:nvSpPr>
        <p:spPr>
          <a:xfrm>
            <a:off x="1265900" y="2507059"/>
            <a:ext cx="3469891"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Mission Information Display</a:t>
            </a:r>
            <a:r>
              <a:rPr lang="en-US" sz="1250" dirty="0">
                <a:solidFill>
                  <a:srgbClr val="FFFFFF"/>
                </a:solidFill>
                <a:latin typeface="PT Sans" pitchFamily="34" charset="0"/>
                <a:ea typeface="PT Sans" pitchFamily="34" charset="-122"/>
                <a:cs typeface="PT Sans" pitchFamily="34" charset="-120"/>
              </a:rPr>
              <a:t> — Structured presentation of all mission fields</a:t>
            </a:r>
            <a:endParaRPr lang="en-US" sz="125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3354" y="3306415"/>
            <a:ext cx="241294" cy="241300"/>
          </a:xfrm>
          <a:prstGeom prst="rect">
            <a:avLst/>
          </a:prstGeom>
        </p:spPr>
      </p:pic>
      <p:sp>
        <p:nvSpPr>
          <p:cNvPr id="9" name="Text 5"/>
          <p:cNvSpPr/>
          <p:nvPr/>
        </p:nvSpPr>
        <p:spPr>
          <a:xfrm>
            <a:off x="1265900" y="3298428"/>
            <a:ext cx="3469891"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Interactive Editing</a:t>
            </a:r>
            <a:r>
              <a:rPr lang="en-US" sz="1250" dirty="0">
                <a:solidFill>
                  <a:srgbClr val="FFFFFF"/>
                </a:solidFill>
                <a:latin typeface="PT Sans" pitchFamily="34" charset="0"/>
                <a:ea typeface="PT Sans" pitchFamily="34" charset="-122"/>
                <a:cs typeface="PT Sans" pitchFamily="34" charset="-120"/>
              </a:rPr>
              <a:t> — In-place field editing with backend persistence</a:t>
            </a:r>
            <a:endParaRPr lang="en-US" sz="1250" dirty="0"/>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354" y="4097784"/>
            <a:ext cx="241294" cy="241300"/>
          </a:xfrm>
          <a:prstGeom prst="rect">
            <a:avLst/>
          </a:prstGeom>
        </p:spPr>
      </p:pic>
      <p:sp>
        <p:nvSpPr>
          <p:cNvPr id="11" name="Text 6"/>
          <p:cNvSpPr/>
          <p:nvPr/>
        </p:nvSpPr>
        <p:spPr>
          <a:xfrm>
            <a:off x="1265900" y="4089797"/>
            <a:ext cx="3469891"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Map Visualization</a:t>
            </a:r>
            <a:r>
              <a:rPr lang="en-US" sz="1250" dirty="0">
                <a:solidFill>
                  <a:srgbClr val="FFFFFF"/>
                </a:solidFill>
                <a:latin typeface="PT Sans" pitchFamily="34" charset="0"/>
                <a:ea typeface="PT Sans" pitchFamily="34" charset="-122"/>
                <a:cs typeface="PT Sans" pitchFamily="34" charset="-120"/>
              </a:rPr>
              <a:t> — OpenLayers map panel with GeoServer layers</a:t>
            </a:r>
            <a:endParaRPr lang="en-US" sz="12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3354" y="4889153"/>
            <a:ext cx="241294" cy="241300"/>
          </a:xfrm>
          <a:prstGeom prst="rect">
            <a:avLst/>
          </a:prstGeom>
        </p:spPr>
      </p:pic>
      <p:sp>
        <p:nvSpPr>
          <p:cNvPr id="13" name="Text 7"/>
          <p:cNvSpPr/>
          <p:nvPr/>
        </p:nvSpPr>
        <p:spPr>
          <a:xfrm>
            <a:off x="1265900" y="4881166"/>
            <a:ext cx="3469891"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Dynamic Data Rendering</a:t>
            </a:r>
            <a:r>
              <a:rPr lang="en-US" sz="1250" dirty="0">
                <a:solidFill>
                  <a:srgbClr val="FFFFFF"/>
                </a:solidFill>
                <a:latin typeface="PT Sans" pitchFamily="34" charset="0"/>
                <a:ea typeface="PT Sans" pitchFamily="34" charset="-122"/>
                <a:cs typeface="PT Sans" pitchFamily="34" charset="-120"/>
              </a:rPr>
              <a:t> — Real-time DOM updates from API responses</a:t>
            </a:r>
            <a:endParaRPr lang="en-US" sz="125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3354" y="5680521"/>
            <a:ext cx="241294" cy="241300"/>
          </a:xfrm>
          <a:prstGeom prst="rect">
            <a:avLst/>
          </a:prstGeom>
        </p:spPr>
      </p:pic>
      <p:sp>
        <p:nvSpPr>
          <p:cNvPr id="15" name="Text 8"/>
          <p:cNvSpPr/>
          <p:nvPr/>
        </p:nvSpPr>
        <p:spPr>
          <a:xfrm>
            <a:off x="1265900" y="5672534"/>
            <a:ext cx="3469891"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CSV Export</a:t>
            </a:r>
            <a:r>
              <a:rPr lang="en-US" sz="1250" dirty="0">
                <a:solidFill>
                  <a:srgbClr val="FFFFFF"/>
                </a:solidFill>
                <a:latin typeface="PT Sans" pitchFamily="34" charset="0"/>
                <a:ea typeface="PT Sans" pitchFamily="34" charset="-122"/>
                <a:cs typeface="PT Sans" pitchFamily="34" charset="-120"/>
              </a:rPr>
              <a:t> — One-click export of mission data records</a:t>
            </a:r>
            <a:endParaRPr lang="en-US" sz="1250" dirty="0"/>
          </a:p>
        </p:txBody>
      </p:sp>
      <p:sp>
        <p:nvSpPr>
          <p:cNvPr id="16" name="Shape 9"/>
          <p:cNvSpPr/>
          <p:nvPr/>
        </p:nvSpPr>
        <p:spPr>
          <a:xfrm>
            <a:off x="5179585" y="2122091"/>
            <a:ext cx="6320275" cy="841970"/>
          </a:xfrm>
          <a:prstGeom prst="roundRect">
            <a:avLst>
              <a:gd name="adj" fmla="val 28666"/>
            </a:avLst>
          </a:prstGeom>
          <a:solidFill>
            <a:srgbClr val="785507"/>
          </a:solidFill>
          <a:ln/>
        </p:spPr>
      </p:sp>
      <p:pic>
        <p:nvPicPr>
          <p:cNvPr id="17" name="Image 5" descr="preencoded.png"/>
          <p:cNvPicPr>
            <a:picLocks noChangeAspect="1"/>
          </p:cNvPicPr>
          <p:nvPr/>
        </p:nvPicPr>
        <p:blipFill>
          <a:blip r:embed="rId8"/>
          <a:stretch>
            <a:fillRect/>
          </a:stretch>
        </p:blipFill>
        <p:spPr>
          <a:xfrm>
            <a:off x="5340415" y="2347615"/>
            <a:ext cx="201111" cy="160834"/>
          </a:xfrm>
          <a:prstGeom prst="rect">
            <a:avLst/>
          </a:prstGeom>
        </p:spPr>
      </p:pic>
      <p:sp>
        <p:nvSpPr>
          <p:cNvPr id="18" name="Text 10"/>
          <p:cNvSpPr/>
          <p:nvPr/>
        </p:nvSpPr>
        <p:spPr>
          <a:xfrm>
            <a:off x="5702356" y="2295723"/>
            <a:ext cx="5636675" cy="494705"/>
          </a:xfrm>
          <a:prstGeom prst="rect">
            <a:avLst/>
          </a:prstGeom>
          <a:noFill/>
          <a:ln/>
        </p:spPr>
        <p:txBody>
          <a:bodyPr wrap="square" lIns="0" tIns="0" rIns="0" bIns="0" rtlCol="0" anchor="t">
            <a:normAutofit/>
          </a:bodyPr>
          <a:lstStyle/>
          <a:p>
            <a:pPr marL="0" indent="0" algn="l">
              <a:lnSpc>
                <a:spcPct val="128000"/>
              </a:lnSpc>
              <a:buNone/>
            </a:pPr>
            <a:r>
              <a:rPr lang="en-US" sz="1250" b="1" dirty="0">
                <a:solidFill>
                  <a:srgbClr val="FFFFFF"/>
                </a:solidFill>
                <a:latin typeface="PT Sans Bold" pitchFamily="34" charset="0"/>
                <a:ea typeface="PT Sans Bold" pitchFamily="34" charset="-122"/>
                <a:cs typeface="PT Sans Bold" pitchFamily="34" charset="-120"/>
              </a:rPr>
              <a:t>Screenshot Placeholder:</a:t>
            </a:r>
            <a:r>
              <a:rPr lang="en-US" sz="1250" dirty="0">
                <a:solidFill>
                  <a:srgbClr val="FFFFFF"/>
                </a:solidFill>
                <a:latin typeface="PT Sans" pitchFamily="34" charset="0"/>
                <a:ea typeface="PT Sans" pitchFamily="34" charset="-122"/>
                <a:cs typeface="PT Sans" pitchFamily="34" charset="-120"/>
              </a:rPr>
              <a:t> Replace this section with the actual Mission Debriefing Dashboard screenshot before presenting.</a:t>
            </a:r>
            <a:endParaRPr lang="en-US" sz="1250" dirty="0"/>
          </a:p>
        </p:txBody>
      </p:sp>
      <p:sp>
        <p:nvSpPr>
          <p:cNvPr id="19" name="Text 11"/>
          <p:cNvSpPr/>
          <p:nvPr/>
        </p:nvSpPr>
        <p:spPr>
          <a:xfrm>
            <a:off x="5179585" y="3130848"/>
            <a:ext cx="6320275" cy="742057"/>
          </a:xfrm>
          <a:prstGeom prst="rect">
            <a:avLst/>
          </a:prstGeom>
          <a:noFill/>
          <a:ln/>
        </p:spPr>
        <p:txBody>
          <a:bodyPr wrap="square" lIns="0" tIns="0" rIns="0" bIns="0" rtlCol="0" anchor="t">
            <a:normAutofit/>
          </a:bodyPr>
          <a:lstStyle/>
          <a:p>
            <a:pPr marL="0" indent="0" algn="l">
              <a:lnSpc>
                <a:spcPct val="128000"/>
              </a:lnSpc>
              <a:buNone/>
            </a:pPr>
            <a:r>
              <a:rPr lang="en-US" sz="1250" dirty="0">
                <a:solidFill>
                  <a:srgbClr val="FFFFFF"/>
                </a:solidFill>
                <a:latin typeface="PT Sans" pitchFamily="34" charset="0"/>
                <a:ea typeface="PT Sans" pitchFamily="34" charset="-122"/>
                <a:cs typeface="PT Sans" pitchFamily="34" charset="-120"/>
              </a:rPr>
              <a:t>The dashboard consolidates mission debriefing data into a single, navigable web interface — eliminating the need for fragmented manual records and enabling structured review, editing, and export workflows.</a:t>
            </a:r>
            <a:endParaRPr lang="en-US" sz="1250" dirty="0"/>
          </a:p>
        </p:txBody>
      </p:sp>
      <p:sp>
        <p:nvSpPr>
          <p:cNvPr id="21" name="Rectangle 20">
            <a:extLst>
              <a:ext uri="{FF2B5EF4-FFF2-40B4-BE49-F238E27FC236}">
                <a16:creationId xmlns:a16="http://schemas.microsoft.com/office/drawing/2014/main" id="{272800B9-12B0-83D5-DDCF-F91661231074}"/>
              </a:ext>
            </a:extLst>
          </p:cNvPr>
          <p:cNvSpPr/>
          <p:nvPr/>
        </p:nvSpPr>
        <p:spPr>
          <a:xfrm>
            <a:off x="10884010" y="6303086"/>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98086" y="514945"/>
            <a:ext cx="10795524" cy="417016"/>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Key Achievements</a:t>
            </a:r>
            <a:endParaRPr lang="en-US" sz="3200" dirty="0">
              <a:latin typeface="Rockwell Nova Extra Bold" panose="02060903020205020403" pitchFamily="18" charset="0"/>
            </a:endParaRPr>
          </a:p>
        </p:txBody>
      </p:sp>
      <p:sp>
        <p:nvSpPr>
          <p:cNvPr id="3" name="Text 1"/>
          <p:cNvSpPr/>
          <p:nvPr/>
        </p:nvSpPr>
        <p:spPr>
          <a:xfrm>
            <a:off x="698086" y="1162348"/>
            <a:ext cx="11405108" cy="205581"/>
          </a:xfrm>
          <a:prstGeom prst="rect">
            <a:avLst/>
          </a:prstGeom>
          <a:noFill/>
          <a:ln/>
        </p:spPr>
        <p:txBody>
          <a:bodyPr wrap="none" lIns="0" tIns="0" rIns="0" bIns="0" rtlCol="0" anchor="t"/>
          <a:lstStyle/>
          <a:p>
            <a:pPr marL="0" indent="0" algn="l">
              <a:lnSpc>
                <a:spcPct val="121000"/>
              </a:lnSpc>
              <a:buNone/>
            </a:pPr>
            <a:r>
              <a:rPr lang="en-US" sz="1200" dirty="0">
                <a:solidFill>
                  <a:srgbClr val="FFFFFF"/>
                </a:solidFill>
                <a:latin typeface="PT Sans" pitchFamily="34" charset="0"/>
                <a:ea typeface="PT Sans" pitchFamily="34" charset="-122"/>
                <a:cs typeface="PT Sans" pitchFamily="34" charset="-120"/>
              </a:rPr>
              <a:t>The project successfully delivered a complete, functional full-stack application across all planned components.</a:t>
            </a:r>
            <a:endParaRPr lang="en-US" sz="1200" dirty="0"/>
          </a:p>
        </p:txBody>
      </p:sp>
      <p:sp>
        <p:nvSpPr>
          <p:cNvPr id="4" name="Shape 2"/>
          <p:cNvSpPr/>
          <p:nvPr/>
        </p:nvSpPr>
        <p:spPr>
          <a:xfrm>
            <a:off x="698086" y="1497509"/>
            <a:ext cx="5340117" cy="1538387"/>
          </a:xfrm>
          <a:prstGeom prst="roundRect">
            <a:avLst>
              <a:gd name="adj" fmla="val 13828"/>
            </a:avLst>
          </a:prstGeom>
          <a:solidFill>
            <a:srgbClr val="00002E"/>
          </a:solidFill>
          <a:ln w="12700">
            <a:solidFill>
              <a:srgbClr val="F2B42D"/>
            </a:solidFill>
            <a:prstDash val="solid"/>
          </a:ln>
        </p:spPr>
      </p:sp>
      <p:sp>
        <p:nvSpPr>
          <p:cNvPr id="5" name="Shape 3"/>
          <p:cNvSpPr/>
          <p:nvPr/>
        </p:nvSpPr>
        <p:spPr>
          <a:xfrm>
            <a:off x="852565" y="1651992"/>
            <a:ext cx="425439" cy="425450"/>
          </a:xfrm>
          <a:prstGeom prst="ellipse">
            <a:avLst/>
          </a:prstGeom>
          <a:solidFill>
            <a:srgbClr val="F2B42D"/>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9541" y="1768971"/>
            <a:ext cx="191388" cy="191393"/>
          </a:xfrm>
          <a:prstGeom prst="rect">
            <a:avLst/>
          </a:prstGeom>
        </p:spPr>
      </p:pic>
      <p:sp>
        <p:nvSpPr>
          <p:cNvPr id="7" name="Text 4"/>
          <p:cNvSpPr/>
          <p:nvPr/>
        </p:nvSpPr>
        <p:spPr>
          <a:xfrm>
            <a:off x="852565" y="2192635"/>
            <a:ext cx="5031158"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Database Integration</a:t>
            </a:r>
            <a:endParaRPr lang="en-US" sz="1300" dirty="0"/>
          </a:p>
        </p:txBody>
      </p:sp>
      <p:sp>
        <p:nvSpPr>
          <p:cNvPr id="8" name="Text 5"/>
          <p:cNvSpPr/>
          <p:nvPr/>
        </p:nvSpPr>
        <p:spPr>
          <a:xfrm>
            <a:off x="852565" y="2470249"/>
            <a:ext cx="5031158"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PostgreSQL integrated with Node.js/Express.js backend using connection pooling and parameterized queries.</a:t>
            </a:r>
            <a:endParaRPr lang="en-US" sz="1100" dirty="0"/>
          </a:p>
        </p:txBody>
      </p:sp>
      <p:sp>
        <p:nvSpPr>
          <p:cNvPr id="9" name="Shape 6"/>
          <p:cNvSpPr/>
          <p:nvPr/>
        </p:nvSpPr>
        <p:spPr>
          <a:xfrm>
            <a:off x="6153393" y="1497509"/>
            <a:ext cx="5340216" cy="1538387"/>
          </a:xfrm>
          <a:prstGeom prst="roundRect">
            <a:avLst>
              <a:gd name="adj" fmla="val 13828"/>
            </a:avLst>
          </a:prstGeom>
          <a:solidFill>
            <a:srgbClr val="00002E"/>
          </a:solidFill>
          <a:ln w="12700">
            <a:solidFill>
              <a:srgbClr val="D7425E"/>
            </a:solidFill>
            <a:prstDash val="solid"/>
          </a:ln>
        </p:spPr>
      </p:sp>
      <p:sp>
        <p:nvSpPr>
          <p:cNvPr id="10" name="Shape 7"/>
          <p:cNvSpPr/>
          <p:nvPr/>
        </p:nvSpPr>
        <p:spPr>
          <a:xfrm>
            <a:off x="6307873" y="1651992"/>
            <a:ext cx="425439" cy="425450"/>
          </a:xfrm>
          <a:prstGeom prst="ellipse">
            <a:avLst/>
          </a:prstGeom>
          <a:solidFill>
            <a:srgbClr val="D7425E"/>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4849" y="1768971"/>
            <a:ext cx="191388" cy="191393"/>
          </a:xfrm>
          <a:prstGeom prst="rect">
            <a:avLst/>
          </a:prstGeom>
        </p:spPr>
      </p:pic>
      <p:sp>
        <p:nvSpPr>
          <p:cNvPr id="12" name="Text 8"/>
          <p:cNvSpPr/>
          <p:nvPr/>
        </p:nvSpPr>
        <p:spPr>
          <a:xfrm>
            <a:off x="6307873" y="2192635"/>
            <a:ext cx="5031257"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RESTful API</a:t>
            </a:r>
            <a:endParaRPr lang="en-US" sz="1300" dirty="0"/>
          </a:p>
        </p:txBody>
      </p:sp>
      <p:sp>
        <p:nvSpPr>
          <p:cNvPr id="13" name="Text 9"/>
          <p:cNvSpPr/>
          <p:nvPr/>
        </p:nvSpPr>
        <p:spPr>
          <a:xfrm>
            <a:off x="6307873" y="2470249"/>
            <a:ext cx="5031257"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Full REST API implemented for data retrieval, filtering, and field-level update operations.</a:t>
            </a:r>
            <a:endParaRPr lang="en-US" sz="1100" dirty="0"/>
          </a:p>
        </p:txBody>
      </p:sp>
      <p:sp>
        <p:nvSpPr>
          <p:cNvPr id="14" name="Shape 10"/>
          <p:cNvSpPr/>
          <p:nvPr/>
        </p:nvSpPr>
        <p:spPr>
          <a:xfrm>
            <a:off x="698086" y="3151088"/>
            <a:ext cx="5340117" cy="1538387"/>
          </a:xfrm>
          <a:prstGeom prst="roundRect">
            <a:avLst>
              <a:gd name="adj" fmla="val 13828"/>
            </a:avLst>
          </a:prstGeom>
          <a:solidFill>
            <a:srgbClr val="00002E"/>
          </a:solidFill>
          <a:ln w="12700">
            <a:solidFill>
              <a:srgbClr val="DD785E"/>
            </a:solidFill>
            <a:prstDash val="solid"/>
          </a:ln>
        </p:spPr>
      </p:sp>
      <p:sp>
        <p:nvSpPr>
          <p:cNvPr id="15" name="Shape 11"/>
          <p:cNvSpPr/>
          <p:nvPr/>
        </p:nvSpPr>
        <p:spPr>
          <a:xfrm>
            <a:off x="852565" y="3305572"/>
            <a:ext cx="425439" cy="425450"/>
          </a:xfrm>
          <a:prstGeom prst="ellipse">
            <a:avLst/>
          </a:prstGeom>
          <a:solidFill>
            <a:srgbClr val="DD785E"/>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9541" y="3422551"/>
            <a:ext cx="191388" cy="191393"/>
          </a:xfrm>
          <a:prstGeom prst="rect">
            <a:avLst/>
          </a:prstGeom>
        </p:spPr>
      </p:pic>
      <p:sp>
        <p:nvSpPr>
          <p:cNvPr id="17" name="Text 12"/>
          <p:cNvSpPr/>
          <p:nvPr/>
        </p:nvSpPr>
        <p:spPr>
          <a:xfrm>
            <a:off x="852565" y="3846215"/>
            <a:ext cx="5031158"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Dynamic Frontend</a:t>
            </a:r>
            <a:endParaRPr lang="en-US" sz="1300" dirty="0"/>
          </a:p>
        </p:txBody>
      </p:sp>
      <p:sp>
        <p:nvSpPr>
          <p:cNvPr id="18" name="Text 13"/>
          <p:cNvSpPr/>
          <p:nvPr/>
        </p:nvSpPr>
        <p:spPr>
          <a:xfrm>
            <a:off x="852565" y="4123829"/>
            <a:ext cx="5031158"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JavaScript-driven rendering with real-time DOM updates from API responses — no page reloads.</a:t>
            </a:r>
            <a:endParaRPr lang="en-US" sz="1100" dirty="0"/>
          </a:p>
        </p:txBody>
      </p:sp>
      <p:sp>
        <p:nvSpPr>
          <p:cNvPr id="19" name="Shape 14"/>
          <p:cNvSpPr/>
          <p:nvPr/>
        </p:nvSpPr>
        <p:spPr>
          <a:xfrm>
            <a:off x="6153393" y="3151088"/>
            <a:ext cx="5340216" cy="1538387"/>
          </a:xfrm>
          <a:prstGeom prst="roundRect">
            <a:avLst>
              <a:gd name="adj" fmla="val 13828"/>
            </a:avLst>
          </a:prstGeom>
          <a:solidFill>
            <a:srgbClr val="00002E"/>
          </a:solidFill>
          <a:ln w="12700">
            <a:solidFill>
              <a:srgbClr val="48A8E2"/>
            </a:solidFill>
            <a:prstDash val="solid"/>
          </a:ln>
        </p:spPr>
      </p:sp>
      <p:sp>
        <p:nvSpPr>
          <p:cNvPr id="20" name="Shape 15"/>
          <p:cNvSpPr/>
          <p:nvPr/>
        </p:nvSpPr>
        <p:spPr>
          <a:xfrm>
            <a:off x="6307873" y="3305572"/>
            <a:ext cx="425439" cy="425450"/>
          </a:xfrm>
          <a:prstGeom prst="ellipse">
            <a:avLst/>
          </a:prstGeom>
          <a:solidFill>
            <a:srgbClr val="48A8E2"/>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24849" y="3422551"/>
            <a:ext cx="191388" cy="191393"/>
          </a:xfrm>
          <a:prstGeom prst="rect">
            <a:avLst/>
          </a:prstGeom>
        </p:spPr>
      </p:pic>
      <p:sp>
        <p:nvSpPr>
          <p:cNvPr id="22" name="Text 16"/>
          <p:cNvSpPr/>
          <p:nvPr/>
        </p:nvSpPr>
        <p:spPr>
          <a:xfrm>
            <a:off x="6307873" y="3846215"/>
            <a:ext cx="5031257"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Map Visualization</a:t>
            </a:r>
            <a:endParaRPr lang="en-US" sz="1300" dirty="0"/>
          </a:p>
        </p:txBody>
      </p:sp>
      <p:sp>
        <p:nvSpPr>
          <p:cNvPr id="23" name="Text 17"/>
          <p:cNvSpPr/>
          <p:nvPr/>
        </p:nvSpPr>
        <p:spPr>
          <a:xfrm>
            <a:off x="6307873" y="4123829"/>
            <a:ext cx="5031257"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OpenLayers and GeoServer integrated for interactive geospatial mission data display.</a:t>
            </a:r>
            <a:endParaRPr lang="en-US" sz="1100" dirty="0"/>
          </a:p>
        </p:txBody>
      </p:sp>
      <p:sp>
        <p:nvSpPr>
          <p:cNvPr id="24" name="Shape 18"/>
          <p:cNvSpPr/>
          <p:nvPr/>
        </p:nvSpPr>
        <p:spPr>
          <a:xfrm>
            <a:off x="698086" y="4804668"/>
            <a:ext cx="5340117" cy="1538387"/>
          </a:xfrm>
          <a:prstGeom prst="roundRect">
            <a:avLst>
              <a:gd name="adj" fmla="val 13828"/>
            </a:avLst>
          </a:prstGeom>
          <a:solidFill>
            <a:srgbClr val="00002E"/>
          </a:solidFill>
          <a:ln w="12700">
            <a:solidFill>
              <a:srgbClr val="59ABA9"/>
            </a:solidFill>
            <a:prstDash val="solid"/>
          </a:ln>
        </p:spPr>
      </p:sp>
      <p:sp>
        <p:nvSpPr>
          <p:cNvPr id="25" name="Shape 19"/>
          <p:cNvSpPr/>
          <p:nvPr/>
        </p:nvSpPr>
        <p:spPr>
          <a:xfrm>
            <a:off x="852565" y="4959152"/>
            <a:ext cx="425439" cy="425450"/>
          </a:xfrm>
          <a:prstGeom prst="ellipse">
            <a:avLst/>
          </a:prstGeom>
          <a:solidFill>
            <a:srgbClr val="59ABA9"/>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9541" y="5076130"/>
            <a:ext cx="191388" cy="191393"/>
          </a:xfrm>
          <a:prstGeom prst="rect">
            <a:avLst/>
          </a:prstGeom>
        </p:spPr>
      </p:pic>
      <p:sp>
        <p:nvSpPr>
          <p:cNvPr id="27" name="Text 20"/>
          <p:cNvSpPr/>
          <p:nvPr/>
        </p:nvSpPr>
        <p:spPr>
          <a:xfrm>
            <a:off x="852565" y="5499795"/>
            <a:ext cx="5031158"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Interactive Editing</a:t>
            </a:r>
            <a:endParaRPr lang="en-US" sz="1300" dirty="0"/>
          </a:p>
        </p:txBody>
      </p:sp>
      <p:sp>
        <p:nvSpPr>
          <p:cNvPr id="28" name="Text 21"/>
          <p:cNvSpPr/>
          <p:nvPr/>
        </p:nvSpPr>
        <p:spPr>
          <a:xfrm>
            <a:off x="852565" y="5777409"/>
            <a:ext cx="5031158"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Frontend editing controls connected to backend update endpoints with form validation.</a:t>
            </a:r>
            <a:endParaRPr lang="en-US" sz="1100" dirty="0"/>
          </a:p>
        </p:txBody>
      </p:sp>
      <p:sp>
        <p:nvSpPr>
          <p:cNvPr id="29" name="Shape 22"/>
          <p:cNvSpPr/>
          <p:nvPr/>
        </p:nvSpPr>
        <p:spPr>
          <a:xfrm>
            <a:off x="6153393" y="4804668"/>
            <a:ext cx="5340216" cy="1538387"/>
          </a:xfrm>
          <a:prstGeom prst="roundRect">
            <a:avLst>
              <a:gd name="adj" fmla="val 13828"/>
            </a:avLst>
          </a:prstGeom>
          <a:solidFill>
            <a:srgbClr val="00002E"/>
          </a:solidFill>
          <a:ln w="12700">
            <a:solidFill>
              <a:srgbClr val="F2B42D"/>
            </a:solidFill>
            <a:prstDash val="solid"/>
          </a:ln>
        </p:spPr>
      </p:sp>
      <p:sp>
        <p:nvSpPr>
          <p:cNvPr id="30" name="Shape 23"/>
          <p:cNvSpPr/>
          <p:nvPr/>
        </p:nvSpPr>
        <p:spPr>
          <a:xfrm>
            <a:off x="6307873" y="4959152"/>
            <a:ext cx="425439" cy="425450"/>
          </a:xfrm>
          <a:prstGeom prst="ellipse">
            <a:avLst/>
          </a:prstGeom>
          <a:solidFill>
            <a:srgbClr val="F2B42D"/>
          </a:solidFill>
          <a:ln/>
        </p:spPr>
      </p:sp>
      <p:pic>
        <p:nvPicPr>
          <p:cNvPr id="31"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24849" y="5076130"/>
            <a:ext cx="191388" cy="191393"/>
          </a:xfrm>
          <a:prstGeom prst="rect">
            <a:avLst/>
          </a:prstGeom>
        </p:spPr>
      </p:pic>
      <p:sp>
        <p:nvSpPr>
          <p:cNvPr id="32" name="Text 24"/>
          <p:cNvSpPr/>
          <p:nvPr/>
        </p:nvSpPr>
        <p:spPr>
          <a:xfrm>
            <a:off x="6307873" y="5499795"/>
            <a:ext cx="5031257" cy="208558"/>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Nunito SemiBold" pitchFamily="34" charset="0"/>
                <a:ea typeface="Nunito SemiBold" pitchFamily="34" charset="-122"/>
                <a:cs typeface="Nunito SemiBold" pitchFamily="34" charset="-120"/>
              </a:rPr>
              <a:t>CSV Export</a:t>
            </a:r>
            <a:endParaRPr lang="en-US" sz="1300" dirty="0"/>
          </a:p>
        </p:txBody>
      </p:sp>
      <p:sp>
        <p:nvSpPr>
          <p:cNvPr id="33" name="Text 25"/>
          <p:cNvSpPr/>
          <p:nvPr/>
        </p:nvSpPr>
        <p:spPr>
          <a:xfrm>
            <a:off x="6307873" y="5777409"/>
            <a:ext cx="5031257" cy="411163"/>
          </a:xfrm>
          <a:prstGeom prst="rect">
            <a:avLst/>
          </a:prstGeom>
          <a:noFill/>
          <a:ln/>
        </p:spPr>
        <p:txBody>
          <a:bodyPr wrap="square" lIns="0" tIns="0" rIns="0" bIns="0" rtlCol="0" anchor="t">
            <a:normAutofit/>
          </a:bodyPr>
          <a:lstStyle/>
          <a:p>
            <a:pPr marL="0" indent="0" algn="l">
              <a:lnSpc>
                <a:spcPct val="121000"/>
              </a:lnSpc>
              <a:buNone/>
            </a:pPr>
            <a:r>
              <a:rPr lang="en-US" sz="1100" dirty="0">
                <a:solidFill>
                  <a:srgbClr val="FFFFFF"/>
                </a:solidFill>
                <a:latin typeface="PT Sans" pitchFamily="34" charset="0"/>
                <a:ea typeface="PT Sans" pitchFamily="34" charset="-122"/>
                <a:cs typeface="PT Sans" pitchFamily="34" charset="-120"/>
              </a:rPr>
              <a:t>Structured CSV export implemented for mission data portability and downstream reporting.</a:t>
            </a:r>
            <a:endParaRPr lang="en-US" sz="1100" dirty="0"/>
          </a:p>
        </p:txBody>
      </p:sp>
      <p:sp>
        <p:nvSpPr>
          <p:cNvPr id="35" name="Rectangle 34">
            <a:extLst>
              <a:ext uri="{FF2B5EF4-FFF2-40B4-BE49-F238E27FC236}">
                <a16:creationId xmlns:a16="http://schemas.microsoft.com/office/drawing/2014/main" id="{331B6B0D-4C97-1C30-8CE2-37F83F8E0786}"/>
              </a:ext>
            </a:extLst>
          </p:cNvPr>
          <p:cNvSpPr/>
          <p:nvPr/>
        </p:nvSpPr>
        <p:spPr>
          <a:xfrm>
            <a:off x="10884010" y="6458247"/>
            <a:ext cx="1219200" cy="319069"/>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98086" y="501948"/>
            <a:ext cx="10795524" cy="449163"/>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Challenges &amp; Solutions</a:t>
            </a:r>
            <a:endParaRPr lang="en-US" sz="3200" dirty="0">
              <a:latin typeface="Rockwell Nova Extra Bold" panose="02060903020205020403" pitchFamily="18" charset="0"/>
            </a:endParaRPr>
          </a:p>
        </p:txBody>
      </p:sp>
      <p:sp>
        <p:nvSpPr>
          <p:cNvPr id="3" name="Text 1"/>
          <p:cNvSpPr/>
          <p:nvPr/>
        </p:nvSpPr>
        <p:spPr>
          <a:xfrm>
            <a:off x="698086" y="1218307"/>
            <a:ext cx="11405108" cy="228997"/>
          </a:xfrm>
          <a:prstGeom prst="rect">
            <a:avLst/>
          </a:prstGeom>
          <a:noFill/>
          <a:ln/>
        </p:spPr>
        <p:txBody>
          <a:bodyPr wrap="none" lIns="0" tIns="0" rIns="0" bIns="0" rtlCol="0" anchor="t"/>
          <a:lstStyle/>
          <a:p>
            <a:pPr marL="0" indent="0" algn="l">
              <a:lnSpc>
                <a:spcPct val="125000"/>
              </a:lnSpc>
              <a:buNone/>
            </a:pPr>
            <a:r>
              <a:rPr lang="en-US" sz="1200" dirty="0">
                <a:solidFill>
                  <a:srgbClr val="FFFFFF"/>
                </a:solidFill>
                <a:latin typeface="PT Sans" pitchFamily="34" charset="0"/>
                <a:ea typeface="PT Sans" pitchFamily="34" charset="-122"/>
                <a:cs typeface="PT Sans" pitchFamily="34" charset="-120"/>
              </a:rPr>
              <a:t>Five significant engineering challenges were encountered and resolved during development, each yielding transferable technical insights.</a:t>
            </a:r>
            <a:endParaRPr lang="en-US" sz="1200" dirty="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8086" y="1597620"/>
            <a:ext cx="3509478" cy="2541389"/>
          </a:xfrm>
          <a:prstGeom prst="rect">
            <a:avLst/>
          </a:prstGeom>
        </p:spPr>
      </p:pic>
      <p:sp>
        <p:nvSpPr>
          <p:cNvPr id="5" name="Text 2"/>
          <p:cNvSpPr/>
          <p:nvPr/>
        </p:nvSpPr>
        <p:spPr>
          <a:xfrm>
            <a:off x="2361198" y="1712119"/>
            <a:ext cx="183252" cy="228997"/>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Nunito SemiBold" pitchFamily="34" charset="0"/>
                <a:ea typeface="Nunito SemiBold" pitchFamily="34" charset="-122"/>
                <a:cs typeface="Nunito SemiBold" pitchFamily="34" charset="-120"/>
              </a:rPr>
              <a:t>1</a:t>
            </a:r>
            <a:endParaRPr lang="en-US" sz="1400" dirty="0"/>
          </a:p>
        </p:txBody>
      </p:sp>
      <p:sp>
        <p:nvSpPr>
          <p:cNvPr id="6" name="Text 3"/>
          <p:cNvSpPr/>
          <p:nvPr/>
        </p:nvSpPr>
        <p:spPr>
          <a:xfrm>
            <a:off x="869829" y="2208411"/>
            <a:ext cx="3165991" cy="224532"/>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Nunito SemiBold" pitchFamily="34" charset="0"/>
                <a:ea typeface="Nunito SemiBold" pitchFamily="34" charset="-122"/>
                <a:cs typeface="Nunito SemiBold" pitchFamily="34" charset="-120"/>
              </a:rPr>
              <a:t>Client–Server Communication</a:t>
            </a:r>
            <a:endParaRPr lang="en-US" sz="1400" dirty="0"/>
          </a:p>
        </p:txBody>
      </p:sp>
      <p:sp>
        <p:nvSpPr>
          <p:cNvPr id="7" name="Text 4"/>
          <p:cNvSpPr/>
          <p:nvPr/>
        </p:nvSpPr>
        <p:spPr>
          <a:xfrm>
            <a:off x="869829" y="2513112"/>
            <a:ext cx="3165991" cy="1454150"/>
          </a:xfrm>
          <a:prstGeom prst="rect">
            <a:avLst/>
          </a:prstGeom>
          <a:noFill/>
          <a:ln/>
        </p:spPr>
        <p:txBody>
          <a:bodyPr wrap="square" lIns="0" tIns="0" rIns="0" bIns="0" rtlCol="0" anchor="t">
            <a:normAutofit/>
          </a:bodyPr>
          <a:lstStyle/>
          <a:p>
            <a:pPr marL="0" indent="0" algn="l">
              <a:lnSpc>
                <a:spcPct val="125000"/>
              </a:lnSpc>
              <a:spcAft>
                <a:spcPts val="600"/>
              </a:spcAft>
              <a:buNone/>
            </a:pPr>
            <a:r>
              <a:rPr lang="en-US" sz="1200" b="1" dirty="0">
                <a:solidFill>
                  <a:srgbClr val="FFFFFF"/>
                </a:solidFill>
                <a:latin typeface="PT Sans Bold" pitchFamily="34" charset="0"/>
                <a:ea typeface="PT Sans Bold" pitchFamily="34" charset="-122"/>
                <a:cs typeface="PT Sans Bold" pitchFamily="34" charset="-120"/>
              </a:rPr>
              <a:t>Challenge:</a:t>
            </a:r>
            <a:r>
              <a:rPr lang="en-US" sz="1200" dirty="0">
                <a:solidFill>
                  <a:srgbClr val="FFFFFF"/>
                </a:solidFill>
                <a:latin typeface="PT Sans" pitchFamily="34" charset="0"/>
                <a:ea typeface="PT Sans" pitchFamily="34" charset="-122"/>
                <a:cs typeface="PT Sans" pitchFamily="34" charset="-120"/>
              </a:rPr>
              <a:t> Understanding asynchronous HTTP requests and API response handling across the stack.</a:t>
            </a:r>
            <a:endParaRPr lang="en-US" sz="1200" dirty="0"/>
          </a:p>
          <a:p>
            <a:pPr marL="0" indent="0" algn="l">
              <a:lnSpc>
                <a:spcPct val="125000"/>
              </a:lnSpc>
              <a:buNone/>
            </a:pPr>
            <a:r>
              <a:rPr lang="en-US" sz="1200" b="1" dirty="0">
                <a:solidFill>
                  <a:srgbClr val="FFFFFF"/>
                </a:solidFill>
                <a:latin typeface="PT Sans Bold" pitchFamily="34" charset="0"/>
                <a:ea typeface="PT Sans Bold" pitchFamily="34" charset="-122"/>
                <a:cs typeface="PT Sans Bold" pitchFamily="34" charset="-120"/>
              </a:rPr>
              <a:t>Solution:</a:t>
            </a:r>
            <a:r>
              <a:rPr lang="en-US" sz="1200" dirty="0">
                <a:solidFill>
                  <a:srgbClr val="FFFFFF"/>
                </a:solidFill>
                <a:latin typeface="PT Sans" pitchFamily="34" charset="0"/>
                <a:ea typeface="PT Sans" pitchFamily="34" charset="-122"/>
                <a:cs typeface="PT Sans" pitchFamily="34" charset="-120"/>
              </a:rPr>
              <a:t> Implemented proper async/await request–response patterns with structured error handling at each layer.</a:t>
            </a:r>
            <a:endParaRPr lang="en-US" sz="12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41109" y="1597620"/>
            <a:ext cx="3509478" cy="2541389"/>
          </a:xfrm>
          <a:prstGeom prst="rect">
            <a:avLst/>
          </a:prstGeom>
        </p:spPr>
      </p:pic>
      <p:sp>
        <p:nvSpPr>
          <p:cNvPr id="9" name="Text 5"/>
          <p:cNvSpPr/>
          <p:nvPr/>
        </p:nvSpPr>
        <p:spPr>
          <a:xfrm>
            <a:off x="6004221" y="1712119"/>
            <a:ext cx="183252" cy="228997"/>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Nunito SemiBold" pitchFamily="34" charset="0"/>
                <a:ea typeface="Nunito SemiBold" pitchFamily="34" charset="-122"/>
                <a:cs typeface="Nunito SemiBold" pitchFamily="34" charset="-120"/>
              </a:rPr>
              <a:t>2</a:t>
            </a:r>
            <a:endParaRPr lang="en-US" sz="1400" dirty="0"/>
          </a:p>
        </p:txBody>
      </p:sp>
      <p:sp>
        <p:nvSpPr>
          <p:cNvPr id="10" name="Text 6"/>
          <p:cNvSpPr/>
          <p:nvPr/>
        </p:nvSpPr>
        <p:spPr>
          <a:xfrm>
            <a:off x="4512852" y="2208411"/>
            <a:ext cx="3165991" cy="224532"/>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Nunito SemiBold" pitchFamily="34" charset="0"/>
                <a:ea typeface="Nunito SemiBold" pitchFamily="34" charset="-122"/>
                <a:cs typeface="Nunito SemiBold" pitchFamily="34" charset="-120"/>
              </a:rPr>
              <a:t>Database Integration</a:t>
            </a:r>
            <a:endParaRPr lang="en-US" sz="1400" dirty="0"/>
          </a:p>
        </p:txBody>
      </p:sp>
      <p:sp>
        <p:nvSpPr>
          <p:cNvPr id="11" name="Text 7"/>
          <p:cNvSpPr/>
          <p:nvPr/>
        </p:nvSpPr>
        <p:spPr>
          <a:xfrm>
            <a:off x="4512852" y="2513112"/>
            <a:ext cx="3165991" cy="1454150"/>
          </a:xfrm>
          <a:prstGeom prst="rect">
            <a:avLst/>
          </a:prstGeom>
          <a:noFill/>
          <a:ln/>
        </p:spPr>
        <p:txBody>
          <a:bodyPr wrap="square" lIns="0" tIns="0" rIns="0" bIns="0" rtlCol="0" anchor="t">
            <a:normAutofit/>
          </a:bodyPr>
          <a:lstStyle/>
          <a:p>
            <a:pPr marL="0" indent="0" algn="l">
              <a:lnSpc>
                <a:spcPct val="125000"/>
              </a:lnSpc>
              <a:spcAft>
                <a:spcPts val="600"/>
              </a:spcAft>
              <a:buNone/>
            </a:pPr>
            <a:r>
              <a:rPr lang="en-US" sz="1200" b="1" dirty="0">
                <a:solidFill>
                  <a:srgbClr val="FFFFFF"/>
                </a:solidFill>
                <a:latin typeface="PT Sans Bold" pitchFamily="34" charset="0"/>
                <a:ea typeface="PT Sans Bold" pitchFamily="34" charset="-122"/>
                <a:cs typeface="PT Sans Bold" pitchFamily="34" charset="-120"/>
              </a:rPr>
              <a:t>Challenge:</a:t>
            </a:r>
            <a:r>
              <a:rPr lang="en-US" sz="1200" dirty="0">
                <a:solidFill>
                  <a:srgbClr val="FFFFFF"/>
                </a:solidFill>
                <a:latin typeface="PT Sans" pitchFamily="34" charset="0"/>
                <a:ea typeface="PT Sans" pitchFamily="34" charset="-122"/>
                <a:cs typeface="PT Sans" pitchFamily="34" charset="-120"/>
              </a:rPr>
              <a:t> Connecting the backend with PostgreSQL and retrieving correct, filtered records reliably.</a:t>
            </a:r>
            <a:endParaRPr lang="en-US" sz="1200" dirty="0"/>
          </a:p>
          <a:p>
            <a:pPr marL="0" indent="0" algn="l">
              <a:lnSpc>
                <a:spcPct val="125000"/>
              </a:lnSpc>
              <a:buNone/>
            </a:pPr>
            <a:r>
              <a:rPr lang="en-US" sz="1200" b="1" dirty="0">
                <a:solidFill>
                  <a:srgbClr val="FFFFFF"/>
                </a:solidFill>
                <a:latin typeface="PT Sans Bold" pitchFamily="34" charset="0"/>
                <a:ea typeface="PT Sans Bold" pitchFamily="34" charset="-122"/>
                <a:cs typeface="PT Sans Bold" pitchFamily="34" charset="-120"/>
              </a:rPr>
              <a:t>Solution:</a:t>
            </a:r>
            <a:r>
              <a:rPr lang="en-US" sz="1200" dirty="0">
                <a:solidFill>
                  <a:srgbClr val="FFFFFF"/>
                </a:solidFill>
                <a:latin typeface="PT Sans" pitchFamily="34" charset="0"/>
                <a:ea typeface="PT Sans" pitchFamily="34" charset="-122"/>
                <a:cs typeface="PT Sans" pitchFamily="34" charset="-120"/>
              </a:rPr>
              <a:t> Designed efficient parameterized queries and implemented connection pooling for stability.</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84132" y="1597620"/>
            <a:ext cx="3509478" cy="2541389"/>
          </a:xfrm>
          <a:prstGeom prst="rect">
            <a:avLst/>
          </a:prstGeom>
        </p:spPr>
      </p:pic>
      <p:sp>
        <p:nvSpPr>
          <p:cNvPr id="13" name="Text 8"/>
          <p:cNvSpPr/>
          <p:nvPr/>
        </p:nvSpPr>
        <p:spPr>
          <a:xfrm>
            <a:off x="9647244" y="1712119"/>
            <a:ext cx="183252" cy="228997"/>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Nunito SemiBold" pitchFamily="34" charset="0"/>
                <a:ea typeface="Nunito SemiBold" pitchFamily="34" charset="-122"/>
                <a:cs typeface="Nunito SemiBold" pitchFamily="34" charset="-120"/>
              </a:rPr>
              <a:t>3</a:t>
            </a:r>
            <a:endParaRPr lang="en-US" sz="1400" dirty="0"/>
          </a:p>
        </p:txBody>
      </p:sp>
      <p:sp>
        <p:nvSpPr>
          <p:cNvPr id="14" name="Text 9"/>
          <p:cNvSpPr/>
          <p:nvPr/>
        </p:nvSpPr>
        <p:spPr>
          <a:xfrm>
            <a:off x="8155875" y="2208411"/>
            <a:ext cx="3165991" cy="224532"/>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Nunito SemiBold" pitchFamily="34" charset="0"/>
                <a:ea typeface="Nunito SemiBold" pitchFamily="34" charset="-122"/>
                <a:cs typeface="Nunito SemiBold" pitchFamily="34" charset="-120"/>
              </a:rPr>
              <a:t>Dynamic Data Rendering</a:t>
            </a:r>
            <a:endParaRPr lang="en-US" sz="1400" dirty="0"/>
          </a:p>
        </p:txBody>
      </p:sp>
      <p:sp>
        <p:nvSpPr>
          <p:cNvPr id="15" name="Text 10"/>
          <p:cNvSpPr/>
          <p:nvPr/>
        </p:nvSpPr>
        <p:spPr>
          <a:xfrm>
            <a:off x="8155875" y="2513112"/>
            <a:ext cx="3165991" cy="1454150"/>
          </a:xfrm>
          <a:prstGeom prst="rect">
            <a:avLst/>
          </a:prstGeom>
          <a:noFill/>
          <a:ln/>
        </p:spPr>
        <p:txBody>
          <a:bodyPr wrap="square" lIns="0" tIns="0" rIns="0" bIns="0" rtlCol="0" anchor="t">
            <a:normAutofit/>
          </a:bodyPr>
          <a:lstStyle/>
          <a:p>
            <a:pPr marL="0" indent="0" algn="l">
              <a:lnSpc>
                <a:spcPct val="125000"/>
              </a:lnSpc>
              <a:spcAft>
                <a:spcPts val="600"/>
              </a:spcAft>
              <a:buNone/>
            </a:pPr>
            <a:r>
              <a:rPr lang="en-US" sz="1200" b="1" dirty="0">
                <a:solidFill>
                  <a:srgbClr val="FFFFFF"/>
                </a:solidFill>
                <a:latin typeface="PT Sans Bold" pitchFamily="34" charset="0"/>
                <a:ea typeface="PT Sans Bold" pitchFamily="34" charset="-122"/>
                <a:cs typeface="PT Sans Bold" pitchFamily="34" charset="-120"/>
              </a:rPr>
              <a:t>Challenge:</a:t>
            </a:r>
            <a:r>
              <a:rPr lang="en-US" sz="1200" dirty="0">
                <a:solidFill>
                  <a:srgbClr val="FFFFFF"/>
                </a:solidFill>
                <a:latin typeface="PT Sans" pitchFamily="34" charset="0"/>
                <a:ea typeface="PT Sans" pitchFamily="34" charset="-122"/>
                <a:cs typeface="PT Sans" pitchFamily="34" charset="-120"/>
              </a:rPr>
              <a:t> Processing JSON API responses and displaying values correctly across all dashboard components.</a:t>
            </a:r>
            <a:endParaRPr lang="en-US" sz="1200" dirty="0"/>
          </a:p>
          <a:p>
            <a:pPr marL="0" indent="0" algn="l">
              <a:lnSpc>
                <a:spcPct val="125000"/>
              </a:lnSpc>
              <a:buNone/>
            </a:pPr>
            <a:r>
              <a:rPr lang="en-US" sz="1200" b="1" dirty="0">
                <a:solidFill>
                  <a:srgbClr val="FFFFFF"/>
                </a:solidFill>
                <a:latin typeface="PT Sans Bold" pitchFamily="34" charset="0"/>
                <a:ea typeface="PT Sans Bold" pitchFamily="34" charset="-122"/>
                <a:cs typeface="PT Sans Bold" pitchFamily="34" charset="-120"/>
              </a:rPr>
              <a:t>Solution:</a:t>
            </a:r>
            <a:r>
              <a:rPr lang="en-US" sz="1200" dirty="0">
                <a:solidFill>
                  <a:srgbClr val="FFFFFF"/>
                </a:solidFill>
                <a:latin typeface="PT Sans" pitchFamily="34" charset="0"/>
                <a:ea typeface="PT Sans" pitchFamily="34" charset="-122"/>
                <a:cs typeface="PT Sans" pitchFamily="34" charset="-120"/>
              </a:rPr>
              <a:t> Implemented robust data parsing routines and systematic DOM manipulation patterns.</a:t>
            </a:r>
            <a:endParaRPr lang="en-US" sz="120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086" y="4272558"/>
            <a:ext cx="5330989" cy="2083395"/>
          </a:xfrm>
          <a:prstGeom prst="rect">
            <a:avLst/>
          </a:prstGeom>
        </p:spPr>
      </p:pic>
      <p:sp>
        <p:nvSpPr>
          <p:cNvPr id="17" name="Text 11"/>
          <p:cNvSpPr/>
          <p:nvPr/>
        </p:nvSpPr>
        <p:spPr>
          <a:xfrm>
            <a:off x="3271904" y="4387056"/>
            <a:ext cx="183252" cy="228997"/>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Nunito SemiBold" pitchFamily="34" charset="0"/>
                <a:ea typeface="Nunito SemiBold" pitchFamily="34" charset="-122"/>
                <a:cs typeface="Nunito SemiBold" pitchFamily="34" charset="-120"/>
              </a:rPr>
              <a:t>4</a:t>
            </a:r>
            <a:endParaRPr lang="en-US" sz="1400" dirty="0"/>
          </a:p>
        </p:txBody>
      </p:sp>
      <p:sp>
        <p:nvSpPr>
          <p:cNvPr id="18" name="Text 12"/>
          <p:cNvSpPr/>
          <p:nvPr/>
        </p:nvSpPr>
        <p:spPr>
          <a:xfrm>
            <a:off x="869829" y="4883348"/>
            <a:ext cx="4987503" cy="224532"/>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Nunito SemiBold" pitchFamily="34" charset="0"/>
                <a:ea typeface="Nunito SemiBold" pitchFamily="34" charset="-122"/>
                <a:cs typeface="Nunito SemiBold" pitchFamily="34" charset="-120"/>
              </a:rPr>
              <a:t>Map Integration</a:t>
            </a:r>
            <a:endParaRPr lang="en-US" sz="1400" dirty="0"/>
          </a:p>
        </p:txBody>
      </p:sp>
      <p:sp>
        <p:nvSpPr>
          <p:cNvPr id="19" name="Text 13"/>
          <p:cNvSpPr/>
          <p:nvPr/>
        </p:nvSpPr>
        <p:spPr>
          <a:xfrm>
            <a:off x="869829" y="5188049"/>
            <a:ext cx="4987503" cy="996156"/>
          </a:xfrm>
          <a:prstGeom prst="rect">
            <a:avLst/>
          </a:prstGeom>
          <a:noFill/>
          <a:ln/>
        </p:spPr>
        <p:txBody>
          <a:bodyPr wrap="square" lIns="0" tIns="0" rIns="0" bIns="0" rtlCol="0" anchor="t">
            <a:normAutofit/>
          </a:bodyPr>
          <a:lstStyle/>
          <a:p>
            <a:pPr marL="0" indent="0" algn="l">
              <a:lnSpc>
                <a:spcPct val="125000"/>
              </a:lnSpc>
              <a:spcAft>
                <a:spcPts val="600"/>
              </a:spcAft>
              <a:buNone/>
            </a:pPr>
            <a:r>
              <a:rPr lang="en-US" sz="1200" b="1" dirty="0">
                <a:solidFill>
                  <a:srgbClr val="FFFFFF"/>
                </a:solidFill>
                <a:latin typeface="PT Sans Bold" pitchFamily="34" charset="0"/>
                <a:ea typeface="PT Sans Bold" pitchFamily="34" charset="-122"/>
                <a:cs typeface="PT Sans Bold" pitchFamily="34" charset="-120"/>
              </a:rPr>
              <a:t>Challenge:</a:t>
            </a:r>
            <a:r>
              <a:rPr lang="en-US" sz="1200" dirty="0">
                <a:solidFill>
                  <a:srgbClr val="FFFFFF"/>
                </a:solidFill>
                <a:latin typeface="PT Sans" pitchFamily="34" charset="0"/>
                <a:ea typeface="PT Sans" pitchFamily="34" charset="-122"/>
                <a:cs typeface="PT Sans" pitchFamily="34" charset="-120"/>
              </a:rPr>
              <a:t> Configuring GeoServer layers and rendering them correctly through OpenLayers in the browser.</a:t>
            </a:r>
            <a:endParaRPr lang="en-US" sz="1200" dirty="0"/>
          </a:p>
          <a:p>
            <a:pPr marL="0" indent="0" algn="l">
              <a:lnSpc>
                <a:spcPct val="125000"/>
              </a:lnSpc>
              <a:buNone/>
            </a:pPr>
            <a:r>
              <a:rPr lang="en-US" sz="1200" b="1" dirty="0">
                <a:solidFill>
                  <a:srgbClr val="FFFFFF"/>
                </a:solidFill>
                <a:latin typeface="PT Sans Bold" pitchFamily="34" charset="0"/>
                <a:ea typeface="PT Sans Bold" pitchFamily="34" charset="-122"/>
                <a:cs typeface="PT Sans Bold" pitchFamily="34" charset="-120"/>
              </a:rPr>
              <a:t>Solution:</a:t>
            </a:r>
            <a:r>
              <a:rPr lang="en-US" sz="1200" dirty="0">
                <a:solidFill>
                  <a:srgbClr val="FFFFFF"/>
                </a:solidFill>
                <a:latin typeface="PT Sans" pitchFamily="34" charset="0"/>
                <a:ea typeface="PT Sans" pitchFamily="34" charset="-122"/>
                <a:cs typeface="PT Sans" pitchFamily="34" charset="-120"/>
              </a:rPr>
              <a:t> Applied proper layer configuration and coordinate reference system (CRS) handling.</a:t>
            </a:r>
            <a:endParaRPr lang="en-US" sz="1200" dirty="0"/>
          </a:p>
        </p:txBody>
      </p:sp>
      <p:pic>
        <p:nvPicPr>
          <p:cNvPr id="20"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62620" y="4272558"/>
            <a:ext cx="5330989" cy="2083395"/>
          </a:xfrm>
          <a:prstGeom prst="rect">
            <a:avLst/>
          </a:prstGeom>
        </p:spPr>
      </p:pic>
      <p:sp>
        <p:nvSpPr>
          <p:cNvPr id="21" name="Text 14"/>
          <p:cNvSpPr/>
          <p:nvPr/>
        </p:nvSpPr>
        <p:spPr>
          <a:xfrm>
            <a:off x="8736439" y="4387056"/>
            <a:ext cx="183252" cy="228997"/>
          </a:xfrm>
          <a:prstGeom prst="rect">
            <a:avLst/>
          </a:prstGeom>
          <a:noFill/>
          <a:ln/>
        </p:spPr>
        <p:txBody>
          <a:bodyPr wrap="none" lIns="0" tIns="0" rIns="0" bIns="0" rtlCol="0" anchor="ctr"/>
          <a:lstStyle/>
          <a:p>
            <a:pPr marL="0" indent="0" algn="ctr">
              <a:lnSpc>
                <a:spcPct val="100000"/>
              </a:lnSpc>
              <a:buNone/>
            </a:pPr>
            <a:r>
              <a:rPr lang="en-US" sz="1400" dirty="0">
                <a:solidFill>
                  <a:srgbClr val="000000"/>
                </a:solidFill>
                <a:latin typeface="Nunito SemiBold" pitchFamily="34" charset="0"/>
                <a:ea typeface="Nunito SemiBold" pitchFamily="34" charset="-122"/>
                <a:cs typeface="Nunito SemiBold" pitchFamily="34" charset="-120"/>
              </a:rPr>
              <a:t>5</a:t>
            </a:r>
            <a:endParaRPr lang="en-US" sz="1400" dirty="0"/>
          </a:p>
        </p:txBody>
      </p:sp>
      <p:sp>
        <p:nvSpPr>
          <p:cNvPr id="22" name="Text 15"/>
          <p:cNvSpPr/>
          <p:nvPr/>
        </p:nvSpPr>
        <p:spPr>
          <a:xfrm>
            <a:off x="6334363" y="4883348"/>
            <a:ext cx="4987503" cy="224532"/>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Nunito SemiBold" pitchFamily="34" charset="0"/>
                <a:ea typeface="Nunito SemiBold" pitchFamily="34" charset="-122"/>
                <a:cs typeface="Nunito SemiBold" pitchFamily="34" charset="-120"/>
              </a:rPr>
              <a:t>Data Editing</a:t>
            </a:r>
            <a:endParaRPr lang="en-US" sz="1400" dirty="0"/>
          </a:p>
        </p:txBody>
      </p:sp>
      <p:sp>
        <p:nvSpPr>
          <p:cNvPr id="23" name="Text 16"/>
          <p:cNvSpPr/>
          <p:nvPr/>
        </p:nvSpPr>
        <p:spPr>
          <a:xfrm>
            <a:off x="6334363" y="5188049"/>
            <a:ext cx="4987503" cy="996156"/>
          </a:xfrm>
          <a:prstGeom prst="rect">
            <a:avLst/>
          </a:prstGeom>
          <a:noFill/>
          <a:ln/>
        </p:spPr>
        <p:txBody>
          <a:bodyPr wrap="square" lIns="0" tIns="0" rIns="0" bIns="0" rtlCol="0" anchor="t">
            <a:normAutofit/>
          </a:bodyPr>
          <a:lstStyle/>
          <a:p>
            <a:pPr marL="0" indent="0" algn="l">
              <a:lnSpc>
                <a:spcPct val="125000"/>
              </a:lnSpc>
              <a:spcAft>
                <a:spcPts val="600"/>
              </a:spcAft>
              <a:buNone/>
            </a:pPr>
            <a:r>
              <a:rPr lang="en-US" sz="1200" b="1" dirty="0">
                <a:solidFill>
                  <a:srgbClr val="FFFFFF"/>
                </a:solidFill>
                <a:latin typeface="PT Sans Bold" pitchFamily="34" charset="0"/>
                <a:ea typeface="PT Sans Bold" pitchFamily="34" charset="-122"/>
                <a:cs typeface="PT Sans Bold" pitchFamily="34" charset="-120"/>
              </a:rPr>
              <a:t>Challenge:</a:t>
            </a:r>
            <a:r>
              <a:rPr lang="en-US" sz="1200" dirty="0">
                <a:solidFill>
                  <a:srgbClr val="FFFFFF"/>
                </a:solidFill>
                <a:latin typeface="PT Sans" pitchFamily="34" charset="0"/>
                <a:ea typeface="PT Sans" pitchFamily="34" charset="-122"/>
                <a:cs typeface="PT Sans" pitchFamily="34" charset="-120"/>
              </a:rPr>
              <a:t> Connecting frontend editing controls with backend update operations and ensuring data integrity.</a:t>
            </a:r>
            <a:endParaRPr lang="en-US" sz="1200" dirty="0"/>
          </a:p>
          <a:p>
            <a:pPr marL="0" indent="0" algn="l">
              <a:lnSpc>
                <a:spcPct val="125000"/>
              </a:lnSpc>
              <a:buNone/>
            </a:pPr>
            <a:r>
              <a:rPr lang="en-US" sz="1200" b="1" dirty="0">
                <a:solidFill>
                  <a:srgbClr val="FFFFFF"/>
                </a:solidFill>
                <a:latin typeface="PT Sans Bold" pitchFamily="34" charset="0"/>
                <a:ea typeface="PT Sans Bold" pitchFamily="34" charset="-122"/>
                <a:cs typeface="PT Sans Bold" pitchFamily="34" charset="-120"/>
              </a:rPr>
              <a:t>Solution:</a:t>
            </a:r>
            <a:r>
              <a:rPr lang="en-US" sz="1200" dirty="0">
                <a:solidFill>
                  <a:srgbClr val="FFFFFF"/>
                </a:solidFill>
                <a:latin typeface="PT Sans" pitchFamily="34" charset="0"/>
                <a:ea typeface="PT Sans" pitchFamily="34" charset="-122"/>
                <a:cs typeface="PT Sans" pitchFamily="34" charset="-120"/>
              </a:rPr>
              <a:t> Implemented client-side form validation and dedicated API update endpoints per field type.</a:t>
            </a:r>
            <a:endParaRPr lang="en-US" sz="1200" dirty="0"/>
          </a:p>
        </p:txBody>
      </p:sp>
      <p:sp>
        <p:nvSpPr>
          <p:cNvPr id="25" name="Rectangle 24">
            <a:extLst>
              <a:ext uri="{FF2B5EF4-FFF2-40B4-BE49-F238E27FC236}">
                <a16:creationId xmlns:a16="http://schemas.microsoft.com/office/drawing/2014/main" id="{0C7F2A4E-7CFD-A80B-317A-3DB709DD908D}"/>
              </a:ext>
            </a:extLst>
          </p:cNvPr>
          <p:cNvSpPr/>
          <p:nvPr/>
        </p:nvSpPr>
        <p:spPr>
          <a:xfrm>
            <a:off x="10884010" y="6436121"/>
            <a:ext cx="1219200" cy="341195"/>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18" name="Shape 7">
            <a:extLst>
              <a:ext uri="{FF2B5EF4-FFF2-40B4-BE49-F238E27FC236}">
                <a16:creationId xmlns:a16="http://schemas.microsoft.com/office/drawing/2014/main" id="{CC8F4627-AF81-0992-22CB-47F56C8D56D4}"/>
              </a:ext>
            </a:extLst>
          </p:cNvPr>
          <p:cNvSpPr/>
          <p:nvPr/>
        </p:nvSpPr>
        <p:spPr>
          <a:xfrm>
            <a:off x="446671" y="2500809"/>
            <a:ext cx="5436258" cy="3441898"/>
          </a:xfrm>
          <a:prstGeom prst="roundRect">
            <a:avLst>
              <a:gd name="adj" fmla="val 12171"/>
            </a:avLst>
          </a:prstGeom>
          <a:solidFill>
            <a:srgbClr val="2D2E34">
              <a:alpha val="75000"/>
            </a:srgbClr>
          </a:solidFill>
          <a:ln/>
        </p:spPr>
      </p:sp>
      <p:sp>
        <p:nvSpPr>
          <p:cNvPr id="2" name="Text 0"/>
          <p:cNvSpPr/>
          <p:nvPr/>
        </p:nvSpPr>
        <p:spPr>
          <a:xfrm>
            <a:off x="698086" y="899517"/>
            <a:ext cx="10795524" cy="513259"/>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Future Enhancements</a:t>
            </a:r>
            <a:endParaRPr lang="en-US" sz="3200" dirty="0">
              <a:latin typeface="Rockwell Nova Extra Bold" panose="02060903020205020403" pitchFamily="18" charset="0"/>
            </a:endParaRPr>
          </a:p>
        </p:txBody>
      </p:sp>
      <p:sp>
        <p:nvSpPr>
          <p:cNvPr id="3" name="Text 1"/>
          <p:cNvSpPr/>
          <p:nvPr/>
        </p:nvSpPr>
        <p:spPr>
          <a:xfrm>
            <a:off x="698086" y="1761827"/>
            <a:ext cx="10795524" cy="558403"/>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The current implementation provides a solid foundation. The following enhancements are identified as high-value extensions for subsequent development phases.</a:t>
            </a:r>
            <a:endParaRPr lang="en-US" sz="1350" dirty="0"/>
          </a:p>
        </p:txBody>
      </p:sp>
      <p:sp>
        <p:nvSpPr>
          <p:cNvPr id="4" name="Text 2"/>
          <p:cNvSpPr/>
          <p:nvPr/>
        </p:nvSpPr>
        <p:spPr>
          <a:xfrm>
            <a:off x="698086" y="2691110"/>
            <a:ext cx="5184844"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Analytics &amp; Reporting</a:t>
            </a:r>
            <a:endParaRPr lang="en-US" sz="1600" dirty="0"/>
          </a:p>
        </p:txBody>
      </p:sp>
      <p:sp>
        <p:nvSpPr>
          <p:cNvPr id="5" name="Text 3"/>
          <p:cNvSpPr/>
          <p:nvPr/>
        </p:nvSpPr>
        <p:spPr>
          <a:xfrm>
            <a:off x="1265305" y="3200797"/>
            <a:ext cx="4617624"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Advanced mission analytics and reporting dashboards</a:t>
            </a:r>
            <a:endParaRPr lang="en-US" sz="1350" dirty="0"/>
          </a:p>
        </p:txBody>
      </p:sp>
      <p:sp>
        <p:nvSpPr>
          <p:cNvPr id="6" name="Text 4"/>
          <p:cNvSpPr/>
          <p:nvPr/>
        </p:nvSpPr>
        <p:spPr>
          <a:xfrm>
            <a:off x="1265305" y="3942556"/>
            <a:ext cx="4617624"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Additional chart types and data visualization components</a:t>
            </a:r>
            <a:endParaRPr lang="en-US" sz="1350" dirty="0"/>
          </a:p>
        </p:txBody>
      </p:sp>
      <p:sp>
        <p:nvSpPr>
          <p:cNvPr id="7" name="Text 5"/>
          <p:cNvSpPr/>
          <p:nvPr/>
        </p:nvSpPr>
        <p:spPr>
          <a:xfrm>
            <a:off x="1265305" y="4684316"/>
            <a:ext cx="4617624"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Historical mission comparison and trend analysis</a:t>
            </a:r>
            <a:endParaRPr lang="en-US" sz="1350" dirty="0"/>
          </a:p>
        </p:txBody>
      </p:sp>
      <p:sp>
        <p:nvSpPr>
          <p:cNvPr id="8" name="Text 6"/>
          <p:cNvSpPr/>
          <p:nvPr/>
        </p:nvSpPr>
        <p:spPr>
          <a:xfrm>
            <a:off x="1265305" y="5426075"/>
            <a:ext cx="4617624"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Automated debriefing report generation</a:t>
            </a:r>
            <a:endParaRPr lang="en-US" sz="1350" dirty="0"/>
          </a:p>
        </p:txBody>
      </p:sp>
      <p:sp>
        <p:nvSpPr>
          <p:cNvPr id="9" name="Shape 7"/>
          <p:cNvSpPr/>
          <p:nvPr/>
        </p:nvSpPr>
        <p:spPr>
          <a:xfrm>
            <a:off x="6189408" y="2516584"/>
            <a:ext cx="5436258" cy="3441898"/>
          </a:xfrm>
          <a:prstGeom prst="roundRect">
            <a:avLst>
              <a:gd name="adj" fmla="val 12171"/>
            </a:avLst>
          </a:prstGeom>
          <a:solidFill>
            <a:srgbClr val="2D2E34">
              <a:alpha val="75000"/>
            </a:srgbClr>
          </a:solidFill>
          <a:ln/>
        </p:spPr>
      </p:sp>
      <p:sp>
        <p:nvSpPr>
          <p:cNvPr id="10" name="Text 8"/>
          <p:cNvSpPr/>
          <p:nvPr/>
        </p:nvSpPr>
        <p:spPr>
          <a:xfrm>
            <a:off x="6363930" y="2691110"/>
            <a:ext cx="5087215" cy="256679"/>
          </a:xfrm>
          <a:prstGeom prst="rect">
            <a:avLst/>
          </a:prstGeom>
          <a:noFill/>
          <a:ln/>
        </p:spPr>
        <p:txBody>
          <a:bodyPr wrap="none" lIns="0" tIns="0" rIns="0" bIns="0" rtlCol="0" anchor="t"/>
          <a:lstStyle/>
          <a:p>
            <a:pPr marL="0" indent="0" algn="l">
              <a:lnSpc>
                <a:spcPct val="104000"/>
              </a:lnSpc>
              <a:buNone/>
            </a:pPr>
            <a:r>
              <a:rPr lang="en-US" sz="1600" dirty="0">
                <a:solidFill>
                  <a:srgbClr val="FFFFFF"/>
                </a:solidFill>
                <a:latin typeface="Nunito SemiBold" pitchFamily="34" charset="0"/>
                <a:ea typeface="Nunito SemiBold" pitchFamily="34" charset="-122"/>
                <a:cs typeface="Nunito SemiBold" pitchFamily="34" charset="-120"/>
              </a:rPr>
              <a:t>Infrastructure &amp; Integration</a:t>
            </a:r>
            <a:endParaRPr lang="en-US" sz="1600" dirty="0"/>
          </a:p>
        </p:txBody>
      </p:sp>
      <p:sp>
        <p:nvSpPr>
          <p:cNvPr id="11" name="Text 9"/>
          <p:cNvSpPr/>
          <p:nvPr/>
        </p:nvSpPr>
        <p:spPr>
          <a:xfrm>
            <a:off x="6931149" y="3200797"/>
            <a:ext cx="4519996"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Real-time or near-real-time data integration pipelines</a:t>
            </a:r>
            <a:endParaRPr lang="en-US" sz="1350" dirty="0"/>
          </a:p>
        </p:txBody>
      </p:sp>
      <p:sp>
        <p:nvSpPr>
          <p:cNvPr id="12" name="Text 10"/>
          <p:cNvSpPr/>
          <p:nvPr/>
        </p:nvSpPr>
        <p:spPr>
          <a:xfrm>
            <a:off x="6931149" y="3942556"/>
            <a:ext cx="4519996"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Enhanced data validation and comprehensive error handling</a:t>
            </a:r>
            <a:endParaRPr lang="en-US" sz="1350" dirty="0"/>
          </a:p>
        </p:txBody>
      </p:sp>
      <p:sp>
        <p:nvSpPr>
          <p:cNvPr id="13" name="Text 11"/>
          <p:cNvSpPr/>
          <p:nvPr/>
        </p:nvSpPr>
        <p:spPr>
          <a:xfrm>
            <a:off x="6931149" y="4684316"/>
            <a:ext cx="4519996"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Role-based access control and user permissions</a:t>
            </a:r>
            <a:endParaRPr lang="en-US" sz="1350" dirty="0"/>
          </a:p>
        </p:txBody>
      </p:sp>
      <p:sp>
        <p:nvSpPr>
          <p:cNvPr id="14" name="Text 12"/>
          <p:cNvSpPr/>
          <p:nvPr/>
        </p:nvSpPr>
        <p:spPr>
          <a:xfrm>
            <a:off x="6931149" y="5426075"/>
            <a:ext cx="4519996" cy="279202"/>
          </a:xfrm>
          <a:prstGeom prst="rect">
            <a:avLst/>
          </a:prstGeom>
          <a:noFill/>
          <a:ln/>
        </p:spPr>
        <p:txBody>
          <a:bodyPr wrap="none" lIns="0" tIns="0" rIns="0" bIns="0" rtlCol="0" anchor="t"/>
          <a:lstStyle/>
          <a:p>
            <a:pPr marL="0" indent="0" algn="l">
              <a:lnSpc>
                <a:spcPct val="133000"/>
              </a:lnSpc>
              <a:buNone/>
            </a:pPr>
            <a:r>
              <a:rPr lang="en-US" sz="1350" dirty="0">
                <a:solidFill>
                  <a:srgbClr val="FFFFFF"/>
                </a:solidFill>
                <a:latin typeface="PT Sans" pitchFamily="34" charset="0"/>
                <a:ea typeface="PT Sans" pitchFamily="34" charset="-122"/>
                <a:cs typeface="PT Sans" pitchFamily="34" charset="-120"/>
              </a:rPr>
              <a:t>Integration with additional mission data sources</a:t>
            </a:r>
            <a:endParaRPr lang="en-US" sz="1350" dirty="0"/>
          </a:p>
        </p:txBody>
      </p:sp>
      <p:sp>
        <p:nvSpPr>
          <p:cNvPr id="16" name="Rectangle 15">
            <a:extLst>
              <a:ext uri="{FF2B5EF4-FFF2-40B4-BE49-F238E27FC236}">
                <a16:creationId xmlns:a16="http://schemas.microsoft.com/office/drawing/2014/main" id="{83BCA2DE-2832-B0DD-1A5A-DBFECCFB6C57}"/>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56" name="Shape 2">
            <a:extLst>
              <a:ext uri="{FF2B5EF4-FFF2-40B4-BE49-F238E27FC236}">
                <a16:creationId xmlns:a16="http://schemas.microsoft.com/office/drawing/2014/main" id="{2A382195-99B6-0AEF-4009-5C8A73A4F8E5}"/>
              </a:ext>
            </a:extLst>
          </p:cNvPr>
          <p:cNvSpPr/>
          <p:nvPr/>
        </p:nvSpPr>
        <p:spPr>
          <a:xfrm>
            <a:off x="582201" y="1552773"/>
            <a:ext cx="10911409" cy="4378722"/>
          </a:xfrm>
          <a:prstGeom prst="roundRect">
            <a:avLst>
              <a:gd name="adj" fmla="val 8951"/>
            </a:avLst>
          </a:prstGeom>
          <a:solidFill>
            <a:srgbClr val="2D2E34">
              <a:alpha val="75000"/>
            </a:srgbClr>
          </a:solidFill>
          <a:ln/>
        </p:spPr>
      </p:sp>
      <p:sp>
        <p:nvSpPr>
          <p:cNvPr id="2" name="Text 0"/>
          <p:cNvSpPr/>
          <p:nvPr/>
        </p:nvSpPr>
        <p:spPr>
          <a:xfrm>
            <a:off x="698238" y="765521"/>
            <a:ext cx="10795524" cy="256679"/>
          </a:xfrm>
          <a:prstGeom prst="rect">
            <a:avLst/>
          </a:prstGeom>
          <a:noFill/>
          <a:ln/>
        </p:spPr>
        <p:txBody>
          <a:bodyPr wrap="none" lIns="0" tIns="0" rIns="0" bIns="0" rtlCol="0" anchor="t"/>
          <a:lstStyle/>
          <a:p>
            <a:pPr marL="0" indent="0" algn="l">
              <a:lnSpc>
                <a:spcPct val="104000"/>
              </a:lnSpc>
              <a:buNone/>
            </a:pPr>
            <a:r>
              <a:rPr lang="en-US" sz="3200" dirty="0">
                <a:solidFill>
                  <a:srgbClr val="FFFFFF"/>
                </a:solidFill>
                <a:latin typeface="Rockwell Nova Extra Bold" panose="02060903020205020403" pitchFamily="18" charset="0"/>
                <a:ea typeface="Nunito SemiBold" pitchFamily="34" charset="-122"/>
                <a:cs typeface="Nunito SemiBold" pitchFamily="34" charset="-120"/>
              </a:rPr>
              <a:t>Conclusion</a:t>
            </a:r>
            <a:endParaRPr lang="en-US" sz="3200" dirty="0">
              <a:latin typeface="Rockwell Nova Extra Bold" panose="02060903020205020403" pitchFamily="18" charset="0"/>
            </a:endParaRPr>
          </a:p>
        </p:txBody>
      </p:sp>
      <p:sp>
        <p:nvSpPr>
          <p:cNvPr id="34" name="Rectangle 33">
            <a:extLst>
              <a:ext uri="{FF2B5EF4-FFF2-40B4-BE49-F238E27FC236}">
                <a16:creationId xmlns:a16="http://schemas.microsoft.com/office/drawing/2014/main" id="{4DE783E2-8B00-3CA8-A471-53C5B24247DD}"/>
              </a:ext>
            </a:extLst>
          </p:cNvPr>
          <p:cNvSpPr/>
          <p:nvPr/>
        </p:nvSpPr>
        <p:spPr>
          <a:xfrm>
            <a:off x="10884010" y="6294121"/>
            <a:ext cx="1219200" cy="483196"/>
          </a:xfrm>
          <a:prstGeom prst="rect">
            <a:avLst/>
          </a:prstGeom>
          <a:solidFill>
            <a:srgbClr val="00002E"/>
          </a:solidFill>
          <a:ln>
            <a:solidFill>
              <a:srgbClr val="0000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36" name="Image 0" descr="preencoded.png">
            <a:extLst>
              <a:ext uri="{FF2B5EF4-FFF2-40B4-BE49-F238E27FC236}">
                <a16:creationId xmlns:a16="http://schemas.microsoft.com/office/drawing/2014/main" id="{FF5D426F-3A35-2C17-9385-AFF104D555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54" y="1918096"/>
            <a:ext cx="241294" cy="241300"/>
          </a:xfrm>
          <a:prstGeom prst="rect">
            <a:avLst/>
          </a:prstGeom>
        </p:spPr>
      </p:pic>
      <p:sp>
        <p:nvSpPr>
          <p:cNvPr id="38" name="Text 4">
            <a:extLst>
              <a:ext uri="{FF2B5EF4-FFF2-40B4-BE49-F238E27FC236}">
                <a16:creationId xmlns:a16="http://schemas.microsoft.com/office/drawing/2014/main" id="{33201C86-A562-C08F-C609-5720A0AE8E52}"/>
              </a:ext>
            </a:extLst>
          </p:cNvPr>
          <p:cNvSpPr/>
          <p:nvPr/>
        </p:nvSpPr>
        <p:spPr>
          <a:xfrm>
            <a:off x="1265900" y="1910109"/>
            <a:ext cx="9294524" cy="494705"/>
          </a:xfrm>
          <a:prstGeom prst="rect">
            <a:avLst/>
          </a:prstGeom>
          <a:noFill/>
          <a:ln/>
        </p:spPr>
        <p:txBody>
          <a:bodyPr wrap="square" lIns="0" tIns="0" rIns="0" bIns="0" rtlCol="0" anchor="t">
            <a:normAutofit/>
          </a:bodyPr>
          <a:lstStyle/>
          <a:p>
            <a:r>
              <a:rPr lang="en-IN" sz="1400" b="1" dirty="0">
                <a:solidFill>
                  <a:schemeClr val="bg1"/>
                </a:solidFill>
                <a:latin typeface="PT Sans" panose="020B0503020203020204" pitchFamily="34" charset="0"/>
              </a:rPr>
              <a:t>Centralized Mission Management</a:t>
            </a:r>
            <a:br>
              <a:rPr lang="en-IN" sz="1400" dirty="0">
                <a:solidFill>
                  <a:schemeClr val="bg1"/>
                </a:solidFill>
                <a:latin typeface="PT Sans" panose="020B0503020203020204" pitchFamily="34" charset="0"/>
              </a:rPr>
            </a:br>
            <a:r>
              <a:rPr lang="en-IN" sz="1400" dirty="0">
                <a:solidFill>
                  <a:schemeClr val="bg1"/>
                </a:solidFill>
                <a:latin typeface="PT Sans" panose="020B0503020203020204" pitchFamily="34" charset="0"/>
              </a:rPr>
              <a:t>Developed a unified dashboard that brings mission information together in a structured and easily accessible interface.</a:t>
            </a:r>
            <a:endParaRPr lang="en-US" sz="1100" dirty="0">
              <a:solidFill>
                <a:schemeClr val="bg1"/>
              </a:solidFill>
              <a:latin typeface="PT Sans" panose="020B0503020203020204" pitchFamily="34" charset="0"/>
            </a:endParaRPr>
          </a:p>
        </p:txBody>
      </p:sp>
      <p:pic>
        <p:nvPicPr>
          <p:cNvPr id="40" name="Image 1" descr="preencoded.png">
            <a:extLst>
              <a:ext uri="{FF2B5EF4-FFF2-40B4-BE49-F238E27FC236}">
                <a16:creationId xmlns:a16="http://schemas.microsoft.com/office/drawing/2014/main" id="{AFCDDB45-4580-5678-2B5D-438ECFDFE52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3354" y="2709465"/>
            <a:ext cx="241294" cy="241300"/>
          </a:xfrm>
          <a:prstGeom prst="rect">
            <a:avLst/>
          </a:prstGeom>
        </p:spPr>
      </p:pic>
      <p:sp>
        <p:nvSpPr>
          <p:cNvPr id="42" name="Text 5">
            <a:extLst>
              <a:ext uri="{FF2B5EF4-FFF2-40B4-BE49-F238E27FC236}">
                <a16:creationId xmlns:a16="http://schemas.microsoft.com/office/drawing/2014/main" id="{04E2D878-7931-DEBD-70A6-E5BDC7806C0D}"/>
              </a:ext>
            </a:extLst>
          </p:cNvPr>
          <p:cNvSpPr/>
          <p:nvPr/>
        </p:nvSpPr>
        <p:spPr>
          <a:xfrm>
            <a:off x="1265899" y="2701478"/>
            <a:ext cx="9760689" cy="494705"/>
          </a:xfrm>
          <a:prstGeom prst="rect">
            <a:avLst/>
          </a:prstGeom>
          <a:noFill/>
          <a:ln/>
        </p:spPr>
        <p:txBody>
          <a:bodyPr wrap="square" lIns="0" tIns="0" rIns="0" bIns="0" rtlCol="0" anchor="t">
            <a:noAutofit/>
          </a:bodyPr>
          <a:lstStyle/>
          <a:p>
            <a:r>
              <a:rPr lang="en-IN" sz="1400" b="1" dirty="0">
                <a:solidFill>
                  <a:schemeClr val="bg1"/>
                </a:solidFill>
                <a:latin typeface="PT Sans" panose="020B0503020203020204" pitchFamily="34" charset="0"/>
              </a:rPr>
              <a:t>Full-Stack Implementation</a:t>
            </a:r>
            <a:br>
              <a:rPr lang="en-IN" sz="1400" dirty="0">
                <a:solidFill>
                  <a:schemeClr val="bg1"/>
                </a:solidFill>
                <a:latin typeface="PT Sans" panose="020B0503020203020204" pitchFamily="34" charset="0"/>
              </a:rPr>
            </a:br>
            <a:r>
              <a:rPr lang="en-IN" sz="1400" dirty="0">
                <a:solidFill>
                  <a:schemeClr val="bg1"/>
                </a:solidFill>
                <a:latin typeface="PT Sans" panose="020B0503020203020204" pitchFamily="34" charset="0"/>
              </a:rPr>
              <a:t>Successfully connected the frontend with a Node.js and Express.js backend and PostgreSQL database to create a complete client-server application.</a:t>
            </a:r>
            <a:endParaRPr lang="en-US" sz="1400" dirty="0">
              <a:solidFill>
                <a:schemeClr val="bg1"/>
              </a:solidFill>
              <a:latin typeface="PT Sans" panose="020B0503020203020204" pitchFamily="34" charset="0"/>
            </a:endParaRPr>
          </a:p>
        </p:txBody>
      </p:sp>
      <p:pic>
        <p:nvPicPr>
          <p:cNvPr id="44" name="Image 2" descr="preencoded.png">
            <a:extLst>
              <a:ext uri="{FF2B5EF4-FFF2-40B4-BE49-F238E27FC236}">
                <a16:creationId xmlns:a16="http://schemas.microsoft.com/office/drawing/2014/main" id="{ABDAD933-BB24-6122-D01E-5096603BF5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3354" y="3500834"/>
            <a:ext cx="241294" cy="241300"/>
          </a:xfrm>
          <a:prstGeom prst="rect">
            <a:avLst/>
          </a:prstGeom>
        </p:spPr>
      </p:pic>
      <p:sp>
        <p:nvSpPr>
          <p:cNvPr id="46" name="Text 6">
            <a:extLst>
              <a:ext uri="{FF2B5EF4-FFF2-40B4-BE49-F238E27FC236}">
                <a16:creationId xmlns:a16="http://schemas.microsoft.com/office/drawing/2014/main" id="{8614C242-7CB3-E064-ABB6-D78B6E5DAC31}"/>
              </a:ext>
            </a:extLst>
          </p:cNvPr>
          <p:cNvSpPr/>
          <p:nvPr/>
        </p:nvSpPr>
        <p:spPr>
          <a:xfrm>
            <a:off x="1265900" y="3492847"/>
            <a:ext cx="9294524" cy="494705"/>
          </a:xfrm>
          <a:prstGeom prst="rect">
            <a:avLst/>
          </a:prstGeom>
          <a:noFill/>
          <a:ln/>
        </p:spPr>
        <p:txBody>
          <a:bodyPr wrap="square" lIns="0" tIns="0" rIns="0" bIns="0" rtlCol="0" anchor="t">
            <a:normAutofit fontScale="25000" lnSpcReduction="20000"/>
          </a:bodyPr>
          <a:lstStyle/>
          <a:p>
            <a:r>
              <a:rPr lang="en-IN" sz="5600" b="1" dirty="0">
                <a:solidFill>
                  <a:schemeClr val="bg1"/>
                </a:solidFill>
                <a:latin typeface="PT Sans" panose="020B0503020203020204" pitchFamily="34" charset="0"/>
              </a:rPr>
              <a:t>Dynamic Data Handling</a:t>
            </a:r>
            <a:br>
              <a:rPr lang="en-IN" sz="5600" dirty="0">
                <a:solidFill>
                  <a:schemeClr val="bg1"/>
                </a:solidFill>
                <a:latin typeface="PT Sans" panose="020B0503020203020204" pitchFamily="34" charset="0"/>
              </a:rPr>
            </a:br>
            <a:r>
              <a:rPr lang="en-IN" sz="5600" dirty="0">
                <a:solidFill>
                  <a:schemeClr val="bg1"/>
                </a:solidFill>
                <a:latin typeface="PT Sans" panose="020B0503020203020204" pitchFamily="34" charset="0"/>
              </a:rPr>
              <a:t>Implemented REST APIs and JSON-based communication to retrieve, process, display, and update mission information dynamically</a:t>
            </a:r>
            <a:r>
              <a:rPr lang="en-IN" sz="1400" dirty="0">
                <a:solidFill>
                  <a:schemeClr val="bg1"/>
                </a:solidFill>
                <a:latin typeface="PT Sans" panose="020B0503020203020204" pitchFamily="34" charset="0"/>
              </a:rPr>
              <a:t>.</a:t>
            </a:r>
            <a:endParaRPr lang="en-US" sz="1400" dirty="0">
              <a:solidFill>
                <a:schemeClr val="bg1"/>
              </a:solidFill>
              <a:latin typeface="PT Sans" panose="020B0503020203020204" pitchFamily="34" charset="0"/>
            </a:endParaRPr>
          </a:p>
        </p:txBody>
      </p:sp>
      <p:pic>
        <p:nvPicPr>
          <p:cNvPr id="48" name="Image 3" descr="preencoded.png">
            <a:extLst>
              <a:ext uri="{FF2B5EF4-FFF2-40B4-BE49-F238E27FC236}">
                <a16:creationId xmlns:a16="http://schemas.microsoft.com/office/drawing/2014/main" id="{FEF6AC4E-8763-73C9-A86F-3B76BD4575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3354" y="4292203"/>
            <a:ext cx="241294" cy="241300"/>
          </a:xfrm>
          <a:prstGeom prst="rect">
            <a:avLst/>
          </a:prstGeom>
        </p:spPr>
      </p:pic>
      <p:sp>
        <p:nvSpPr>
          <p:cNvPr id="50" name="Text 7">
            <a:extLst>
              <a:ext uri="{FF2B5EF4-FFF2-40B4-BE49-F238E27FC236}">
                <a16:creationId xmlns:a16="http://schemas.microsoft.com/office/drawing/2014/main" id="{03BE7FA3-EDFD-2084-F234-E29184CA0114}"/>
              </a:ext>
            </a:extLst>
          </p:cNvPr>
          <p:cNvSpPr/>
          <p:nvPr/>
        </p:nvSpPr>
        <p:spPr>
          <a:xfrm>
            <a:off x="1265900" y="4284216"/>
            <a:ext cx="8900076" cy="494705"/>
          </a:xfrm>
          <a:prstGeom prst="rect">
            <a:avLst/>
          </a:prstGeom>
          <a:noFill/>
          <a:ln/>
        </p:spPr>
        <p:txBody>
          <a:bodyPr wrap="square" lIns="0" tIns="0" rIns="0" bIns="0" rtlCol="0" anchor="t">
            <a:noAutofit/>
          </a:bodyPr>
          <a:lstStyle/>
          <a:p>
            <a:r>
              <a:rPr lang="en-IN" sz="1400" b="1" dirty="0">
                <a:solidFill>
                  <a:schemeClr val="bg1"/>
                </a:solidFill>
              </a:rPr>
              <a:t>Interactive Visualization &amp; Features</a:t>
            </a:r>
            <a:br>
              <a:rPr lang="en-IN" sz="1400" dirty="0">
                <a:solidFill>
                  <a:schemeClr val="bg1"/>
                </a:solidFill>
              </a:rPr>
            </a:br>
            <a:r>
              <a:rPr lang="en-IN" sz="1400" dirty="0">
                <a:solidFill>
                  <a:schemeClr val="bg1"/>
                </a:solidFill>
              </a:rPr>
              <a:t>Integrated </a:t>
            </a:r>
            <a:r>
              <a:rPr lang="en-IN" sz="1400" dirty="0" err="1">
                <a:solidFill>
                  <a:schemeClr val="bg1"/>
                </a:solidFill>
              </a:rPr>
              <a:t>OpenLayers</a:t>
            </a:r>
            <a:r>
              <a:rPr lang="en-IN" sz="1400" dirty="0">
                <a:solidFill>
                  <a:schemeClr val="bg1"/>
                </a:solidFill>
              </a:rPr>
              <a:t> and </a:t>
            </a:r>
            <a:r>
              <a:rPr lang="en-IN" sz="1400" dirty="0" err="1">
                <a:solidFill>
                  <a:schemeClr val="bg1"/>
                </a:solidFill>
              </a:rPr>
              <a:t>GeoServer</a:t>
            </a:r>
            <a:r>
              <a:rPr lang="en-IN" sz="1400" dirty="0">
                <a:solidFill>
                  <a:schemeClr val="bg1"/>
                </a:solidFill>
              </a:rPr>
              <a:t> for map visualization along with interactive editing, navigation, and dynamic UI components.</a:t>
            </a:r>
            <a:endParaRPr lang="en-US" sz="1400" dirty="0">
              <a:solidFill>
                <a:schemeClr val="bg1"/>
              </a:solidFill>
            </a:endParaRPr>
          </a:p>
        </p:txBody>
      </p:sp>
      <p:pic>
        <p:nvPicPr>
          <p:cNvPr id="52" name="Image 4" descr="preencoded.png">
            <a:extLst>
              <a:ext uri="{FF2B5EF4-FFF2-40B4-BE49-F238E27FC236}">
                <a16:creationId xmlns:a16="http://schemas.microsoft.com/office/drawing/2014/main" id="{6EF5E992-8DAC-176B-3BA7-5C883672797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3354" y="5083571"/>
            <a:ext cx="241294" cy="241300"/>
          </a:xfrm>
          <a:prstGeom prst="rect">
            <a:avLst/>
          </a:prstGeom>
        </p:spPr>
      </p:pic>
      <p:sp>
        <p:nvSpPr>
          <p:cNvPr id="54" name="Text 8">
            <a:extLst>
              <a:ext uri="{FF2B5EF4-FFF2-40B4-BE49-F238E27FC236}">
                <a16:creationId xmlns:a16="http://schemas.microsoft.com/office/drawing/2014/main" id="{8B356F98-495C-60BB-81EB-97E373FB7C41}"/>
              </a:ext>
            </a:extLst>
          </p:cNvPr>
          <p:cNvSpPr/>
          <p:nvPr/>
        </p:nvSpPr>
        <p:spPr>
          <a:xfrm>
            <a:off x="1265900" y="5075584"/>
            <a:ext cx="8729747" cy="494705"/>
          </a:xfrm>
          <a:prstGeom prst="rect">
            <a:avLst/>
          </a:prstGeom>
          <a:noFill/>
          <a:ln/>
        </p:spPr>
        <p:txBody>
          <a:bodyPr wrap="square" lIns="0" tIns="0" rIns="0" bIns="0" rtlCol="0" anchor="t">
            <a:noAutofit/>
          </a:bodyPr>
          <a:lstStyle/>
          <a:p>
            <a:pPr lvl="0"/>
            <a:r>
              <a:rPr lang="en-IN" sz="1400" b="1" dirty="0">
                <a:solidFill>
                  <a:schemeClr val="bg1"/>
                </a:solidFill>
              </a:rPr>
              <a:t>Data Export &amp; Practical Usability</a:t>
            </a:r>
            <a:br>
              <a:rPr lang="en-IN" sz="1400" dirty="0">
                <a:solidFill>
                  <a:schemeClr val="bg1"/>
                </a:solidFill>
              </a:rPr>
            </a:br>
            <a:r>
              <a:rPr lang="en-IN" sz="1400" dirty="0">
                <a:solidFill>
                  <a:schemeClr val="bg1"/>
                </a:solidFill>
              </a:rPr>
              <a:t>Added CSV export functionality and organized the dashboard into multiple debriefing sections, making mission information easier to review, manage, and retain.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TotalTime>
  <Words>1284</Words>
  <Application>Microsoft Office PowerPoint</Application>
  <PresentationFormat>Widescreen</PresentationFormat>
  <Paragraphs>155</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PT Sans</vt:lpstr>
      <vt:lpstr>Rockwell Nova Extra Bold</vt:lpstr>
      <vt:lpstr>Nunito Light</vt:lpstr>
      <vt:lpstr>Nunito SemiBold</vt:lpstr>
      <vt:lpstr>PT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Prathmesh Behal</cp:lastModifiedBy>
  <cp:revision>2</cp:revision>
  <dcterms:created xsi:type="dcterms:W3CDTF">2026-08-31T18:16:43Z</dcterms:created>
  <dcterms:modified xsi:type="dcterms:W3CDTF">2026-08-31T19:51:04Z</dcterms:modified>
</cp:coreProperties>
</file>